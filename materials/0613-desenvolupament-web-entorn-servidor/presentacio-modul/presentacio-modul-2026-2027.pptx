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Feu clic per a moure la diapositiva</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ca-ES" sz="2000" b="0" u="none" strike="noStrike">
                <a:solidFill>
                  <a:srgbClr val="000000"/>
                </a:solidFill>
                <a:effectLst/>
                <a:uFillTx/>
                <a:latin typeface="Arial"/>
              </a:rPr>
              <a:t>Feu clic per a editar el format de les notes</a:t>
            </a:r>
            <a:endParaRPr lang="ca-E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ca-ES" sz="1400" b="0" u="none" strike="noStrike">
                <a:solidFill>
                  <a:srgbClr val="000000"/>
                </a:solidFill>
                <a:effectLst/>
                <a:uFillTx/>
                <a:latin typeface="Times New Roman"/>
              </a:rPr>
              <a:t>&lt;capçalera&gt;</a:t>
            </a:r>
            <a:endParaRPr lang="ca-E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ca-ES" sz="1400" b="0" u="none" strike="noStrike">
                <a:solidFill>
                  <a:srgbClr val="000000"/>
                </a:solidFill>
                <a:effectLst/>
                <a:uFillTx/>
                <a:latin typeface="Times New Roman"/>
              </a:defRPr>
            </a:lvl1pPr>
          </a:lstStyle>
          <a:p>
            <a:pPr indent="0" algn="r">
              <a:buNone/>
            </a:pPr>
            <a:r>
              <a:rPr lang="ca-ES" sz="1400" b="0" u="none" strike="noStrike">
                <a:solidFill>
                  <a:srgbClr val="000000"/>
                </a:solidFill>
                <a:effectLst/>
                <a:uFillTx/>
                <a:latin typeface="Times New Roman"/>
              </a:rPr>
              <a:t>&lt;data/hora&gt;</a:t>
            </a:r>
            <a:endParaRPr lang="ca-E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ca-ES" sz="1400" b="0" u="none" strike="noStrike">
                <a:solidFill>
                  <a:srgbClr val="000000"/>
                </a:solidFill>
                <a:effectLst/>
                <a:uFillTx/>
                <a:latin typeface="Times New Roman"/>
              </a:defRPr>
            </a:lvl1pPr>
          </a:lstStyle>
          <a:p>
            <a:pPr indent="0" algn="l">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ca-ES" sz="1400" b="0" u="none" strike="noStrike">
                <a:solidFill>
                  <a:srgbClr val="000000"/>
                </a:solidFill>
                <a:effectLst/>
                <a:uFillTx/>
                <a:latin typeface="Times New Roman"/>
              </a:defRPr>
            </a:lvl1pPr>
          </a:lstStyle>
          <a:p>
            <a:pPr indent="0" algn="r">
              <a:buNone/>
            </a:pPr>
            <a:fld id="{670100D0-5781-40B8-B583-851EE28BF4FF}" type="slidenum">
              <a:rPr lang="ca-ES" sz="1400" b="0" u="none" strike="noStrike">
                <a:solidFill>
                  <a:srgbClr val="000000"/>
                </a:solidFill>
                <a:effectLst/>
                <a:uFillTx/>
                <a:latin typeface="Times New Roman"/>
              </a:rPr>
              <a:t>&lt;número&gt;</a:t>
            </a:fld>
            <a:endParaRPr lang="ca-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1143000" y="685800"/>
            <a:ext cx="4571640" cy="3428640"/>
          </a:xfrm>
          <a:prstGeom prst="rect">
            <a:avLst/>
          </a:prstGeom>
          <a:ln w="0">
            <a:noFill/>
          </a:ln>
        </p:spPr>
      </p:sp>
      <p:sp>
        <p:nvSpPr>
          <p:cNvPr id="39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Presentació del mòdul. Font horària: 1-INTRODUCCIÓ!C7,F7. Professor: David Pons.</a:t>
            </a:r>
            <a:endParaRPr lang="ca-ES" sz="2000" b="0" u="none" strike="noStrike">
              <a:solidFill>
                <a:srgbClr val="000000"/>
              </a:solidFill>
              <a:effectLst/>
              <a:uFillTx/>
              <a:latin typeface="Arial"/>
            </a:endParaRPr>
          </a:p>
        </p:txBody>
      </p:sp>
      <p:sp>
        <p:nvSpPr>
          <p:cNvPr id="393"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9D52EB6-CE87-4696-B78A-0A727306E1FE}"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1143000" y="685800"/>
            <a:ext cx="4571640" cy="3428640"/>
          </a:xfrm>
          <a:prstGeom prst="rect">
            <a:avLst/>
          </a:prstGeom>
          <a:ln w="0">
            <a:noFill/>
          </a:ln>
        </p:spPr>
      </p:sp>
      <p:sp>
        <p:nvSpPr>
          <p:cNvPr id="39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Exemple docent il·lustratiu: reserva d’un llibre. No descriu un projecte imposat al curs.</a:t>
            </a:r>
            <a:endParaRPr lang="ca-ES" sz="2000" b="0" u="none" strike="noStrike">
              <a:solidFill>
                <a:srgbClr val="000000"/>
              </a:solidFill>
              <a:effectLst/>
              <a:uFillTx/>
              <a:latin typeface="Arial"/>
            </a:endParaRPr>
          </a:p>
        </p:txBody>
      </p:sp>
      <p:sp>
        <p:nvSpPr>
          <p:cNvPr id="396"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C74DDD6-AC63-42E3-BBAA-AD9AB0398D6C}"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1143000" y="685800"/>
            <a:ext cx="4571640" cy="3428640"/>
          </a:xfrm>
          <a:prstGeom prst="rect">
            <a:avLst/>
          </a:prstGeom>
          <a:ln w="0">
            <a:noFill/>
          </a:ln>
        </p:spPr>
      </p:sp>
      <p:sp>
        <p:nvSpPr>
          <p:cNvPr id="39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wiki/orientacio-docent.md i CONTEXT_ASSIGNATURA.md del ZIP docent.</a:t>
            </a:r>
            <a:endParaRPr lang="ca-ES" sz="2000" b="0" u="none" strike="noStrike">
              <a:solidFill>
                <a:srgbClr val="000000"/>
              </a:solidFill>
              <a:effectLst/>
              <a:uFillTx/>
              <a:latin typeface="Arial"/>
            </a:endParaRPr>
          </a:p>
        </p:txBody>
      </p:sp>
      <p:sp>
        <p:nvSpPr>
          <p:cNvPr id="399"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7A676AA-EFC2-4F72-9C84-745159D0DBA8}"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1143000" y="685800"/>
            <a:ext cx="4571640" cy="3428640"/>
          </a:xfrm>
          <a:prstGeom prst="rect">
            <a:avLst/>
          </a:prstGeom>
          <a:ln w="0">
            <a:noFill/>
          </a:ln>
        </p:spPr>
      </p:sp>
      <p:sp>
        <p:nvSpPr>
          <p:cNvPr id="40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Relacions pedagògiques sintetitzades per a aquesta presentació. Noms dels mòduls contrastats amb RD 686/2010, https://www.boe.es/buscar/doc.php?id=BOE-A-2010-9269, i RD 405/2023, https://www.boe.es/eli/es/rd/2023/05/29/405. No s’atribueixen hores ni ponderacions als altres mòduls.</a:t>
            </a:r>
            <a:endParaRPr lang="ca-ES" sz="2000" b="0" u="none" strike="noStrike">
              <a:solidFill>
                <a:srgbClr val="000000"/>
              </a:solidFill>
              <a:effectLst/>
              <a:uFillTx/>
              <a:latin typeface="Arial"/>
            </a:endParaRPr>
          </a:p>
        </p:txBody>
      </p:sp>
      <p:sp>
        <p:nvSpPr>
          <p:cNvPr id="402"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511A91E-E9AE-4CD8-9F9A-5FD039A12A07}"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1143000" y="685800"/>
            <a:ext cx="4571640" cy="3428640"/>
          </a:xfrm>
          <a:prstGeom prst="rect">
            <a:avLst/>
          </a:prstGeom>
          <a:ln w="0">
            <a:noFill/>
          </a:ln>
        </p:spPr>
      </p:sp>
      <p:sp>
        <p:nvSpPr>
          <p:cNvPr id="40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Relacions pedagògiques sintetitzades per a aquesta presentació. Noms dels mòduls contrastats amb RD 686/2010, https://www.boe.es/buscar/doc.php?id=BOE-A-2010-9269, i RD 405/2023, https://www.boe.es/eli/es/rd/2023/05/29/405. No s’atribueixen hores ni ponderacions als altres mòduls.</a:t>
            </a:r>
            <a:endParaRPr lang="ca-ES" sz="2000" b="0" u="none" strike="noStrike">
              <a:solidFill>
                <a:srgbClr val="000000"/>
              </a:solidFill>
              <a:effectLst/>
              <a:uFillTx/>
              <a:latin typeface="Arial"/>
            </a:endParaRPr>
          </a:p>
        </p:txBody>
      </p:sp>
      <p:sp>
        <p:nvSpPr>
          <p:cNvPr id="405"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F28E44B-3A3E-4A13-9AEC-BD89E66B7A48}"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1143000" y="685800"/>
            <a:ext cx="4571640" cy="3428640"/>
          </a:xfrm>
          <a:prstGeom prst="rect">
            <a:avLst/>
          </a:prstGeom>
          <a:ln w="0">
            <a:noFill/>
          </a:ln>
        </p:spPr>
      </p:sp>
      <p:sp>
        <p:nvSpPr>
          <p:cNvPr id="40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Metodologia confirmada pel professor el 2026-09-21; wiki/orientacio-docent.md.</a:t>
            </a:r>
            <a:endParaRPr lang="ca-ES" sz="2000" b="0" u="none" strike="noStrike">
              <a:solidFill>
                <a:srgbClr val="000000"/>
              </a:solidFill>
              <a:effectLst/>
              <a:uFillTx/>
              <a:latin typeface="Arial"/>
            </a:endParaRPr>
          </a:p>
        </p:txBody>
      </p:sp>
      <p:sp>
        <p:nvSpPr>
          <p:cNvPr id="408"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CE8C016-3469-4669-BFE0-D2FC7FB642C8}"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1143000" y="685800"/>
            <a:ext cx="4571640" cy="3428640"/>
          </a:xfrm>
          <a:prstGeom prst="rect">
            <a:avLst/>
          </a:prstGeom>
          <a:ln w="0">
            <a:noFill/>
          </a:ln>
        </p:spPr>
      </p:sp>
      <p:sp>
        <p:nvSpPr>
          <p:cNvPr id="41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IFC33C - Desenvolupament web en entorn servidor.xlsx, full 6-Distribució temporal, fila 5; full 2-ANCORATGE CURRICULAR, A4:F12. Títols dels RA extrets del full amb espais normalitzats. Els percentatges indiquen el pes de cada RA en la nota global del mòdul. Els resums d’unitat incorporen l’enfocament docent de wiki/orientacio-docent.md.</a:t>
            </a:r>
            <a:endParaRPr lang="ca-ES" sz="2000" b="0" u="none" strike="noStrike">
              <a:solidFill>
                <a:srgbClr val="000000"/>
              </a:solidFill>
              <a:effectLst/>
              <a:uFillTx/>
              <a:latin typeface="Arial"/>
            </a:endParaRPr>
          </a:p>
        </p:txBody>
      </p:sp>
      <p:sp>
        <p:nvSpPr>
          <p:cNvPr id="411"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08F43E4-79DD-4FEB-B678-D2BC6E6F04C7}"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1143000" y="685800"/>
            <a:ext cx="4571640" cy="3428640"/>
          </a:xfrm>
          <a:prstGeom prst="rect">
            <a:avLst/>
          </a:prstGeom>
          <a:ln w="0">
            <a:noFill/>
          </a:ln>
        </p:spPr>
      </p:sp>
      <p:sp>
        <p:nvSpPr>
          <p:cNvPr id="41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IFC33C - Desenvolupament web en entorn servidor.xlsx, full 6-Distribució temporal, fila 5; full 2-ANCORATGE CURRICULAR, A4:F12. Títols dels RA extrets del full amb espais normalitzats. Els percentatges indiquen el pes de cada RA en la nota global del mòdul. Els resums d’unitat incorporen l’enfocament docent de wiki/orientacio-docent.md.</a:t>
            </a:r>
            <a:endParaRPr lang="ca-ES" sz="2000" b="0" u="none" strike="noStrike">
              <a:solidFill>
                <a:srgbClr val="000000"/>
              </a:solidFill>
              <a:effectLst/>
              <a:uFillTx/>
              <a:latin typeface="Arial"/>
            </a:endParaRPr>
          </a:p>
        </p:txBody>
      </p:sp>
      <p:sp>
        <p:nvSpPr>
          <p:cNvPr id="414"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2A53C62-6D70-418C-83C6-8FA127FED849}"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1143000" y="685800"/>
            <a:ext cx="4571640" cy="3428640"/>
          </a:xfrm>
          <a:prstGeom prst="rect">
            <a:avLst/>
          </a:prstGeom>
          <a:ln w="0">
            <a:noFill/>
          </a:ln>
        </p:spPr>
      </p:sp>
      <p:sp>
        <p:nvSpPr>
          <p:cNvPr id="41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IFC33C - Desenvolupament web en entorn servidor.xlsx, full 6-Distribució temporal, fila 6; full 2-ANCORATGE CURRICULAR, A4:F12. Títols dels RA extrets del full amb espais normalitzats. Els percentatges indiquen el pes de cada RA en la nota global del mòdul. Els resums d’unitat incorporen l’enfocament docent de wiki/orientacio-docent.md.</a:t>
            </a:r>
            <a:endParaRPr lang="ca-ES" sz="2000" b="0" u="none" strike="noStrike">
              <a:solidFill>
                <a:srgbClr val="000000"/>
              </a:solidFill>
              <a:effectLst/>
              <a:uFillTx/>
              <a:latin typeface="Arial"/>
            </a:endParaRPr>
          </a:p>
        </p:txBody>
      </p:sp>
      <p:sp>
        <p:nvSpPr>
          <p:cNvPr id="417"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AF07401-6DEC-433C-9F62-0B1A93569296}"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1143000" y="685800"/>
            <a:ext cx="4571640" cy="3428640"/>
          </a:xfrm>
          <a:prstGeom prst="rect">
            <a:avLst/>
          </a:prstGeom>
          <a:ln w="0">
            <a:noFill/>
          </a:ln>
        </p:spPr>
      </p:sp>
      <p:sp>
        <p:nvSpPr>
          <p:cNvPr id="41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IFC33C - Desenvolupament web en entorn servidor.xlsx, full 6-Distribució temporal, fila 7; full 2-ANCORATGE CURRICULAR, A4:F12. Títols dels RA extrets del full amb espais normalitzats. Els percentatges indiquen el pes de cada RA en la nota global del mòdul. Els resums d’unitat incorporen l’enfocament docent de wiki/orientacio-docent.md.</a:t>
            </a:r>
            <a:endParaRPr lang="ca-ES" sz="2000" b="0" u="none" strike="noStrike">
              <a:solidFill>
                <a:srgbClr val="000000"/>
              </a:solidFill>
              <a:effectLst/>
              <a:uFillTx/>
              <a:latin typeface="Arial"/>
            </a:endParaRPr>
          </a:p>
        </p:txBody>
      </p:sp>
      <p:sp>
        <p:nvSpPr>
          <p:cNvPr id="420"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44145CE-64E1-464D-AE2F-B34291FDF2CF}"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1143000" y="685800"/>
            <a:ext cx="4571640" cy="3428640"/>
          </a:xfrm>
          <a:prstGeom prst="rect">
            <a:avLst/>
          </a:prstGeom>
          <a:ln w="0">
            <a:noFill/>
          </a:ln>
        </p:spPr>
      </p:sp>
      <p:sp>
        <p:nvSpPr>
          <p:cNvPr id="42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IFC33C - Desenvolupament web en entorn servidor.xlsx, full 6-Distribució temporal, fila 8; full 2-ANCORATGE CURRICULAR, A4:F12. Títols dels RA extrets del full amb espais normalitzats. Els percentatges indiquen el pes de cada RA en la nota global del mòdul. Els resums d’unitat incorporen l’enfocament docent de wiki/orientacio-docent.md.</a:t>
            </a:r>
            <a:endParaRPr lang="ca-ES" sz="2000" b="0" u="none" strike="noStrike">
              <a:solidFill>
                <a:srgbClr val="000000"/>
              </a:solidFill>
              <a:effectLst/>
              <a:uFillTx/>
              <a:latin typeface="Arial"/>
            </a:endParaRPr>
          </a:p>
        </p:txBody>
      </p:sp>
      <p:sp>
        <p:nvSpPr>
          <p:cNvPr id="423"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D4ECB9C-2B23-48EE-AC78-360FE2EEAB77}"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1143000" y="685800"/>
            <a:ext cx="4571640" cy="3428640"/>
          </a:xfrm>
          <a:prstGeom prst="rect">
            <a:avLst/>
          </a:prstGeom>
          <a:ln w="0">
            <a:noFill/>
          </a:ln>
        </p:spPr>
      </p:sp>
      <p:sp>
        <p:nvSpPr>
          <p:cNvPr id="42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IFC33C - Desenvolupament web en entorn servidor.xlsx, full 6-Distribució temporal, fila 8; full 2-ANCORATGE CURRICULAR, A4:F12. Títols dels RA extrets del full amb espais normalitzats. Els percentatges indiquen el pes de cada RA en la nota global del mòdul. Els resums d’unitat incorporen l’enfocament docent de wiki/orientacio-docent.md.</a:t>
            </a:r>
            <a:endParaRPr lang="ca-ES" sz="2000" b="0" u="none" strike="noStrike">
              <a:solidFill>
                <a:srgbClr val="000000"/>
              </a:solidFill>
              <a:effectLst/>
              <a:uFillTx/>
              <a:latin typeface="Arial"/>
            </a:endParaRPr>
          </a:p>
        </p:txBody>
      </p:sp>
      <p:sp>
        <p:nvSpPr>
          <p:cNvPr id="426"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F6AC48-81C8-490D-810C-EB3E0020D4C4}"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1143000" y="685800"/>
            <a:ext cx="4571640" cy="3428640"/>
          </a:xfrm>
          <a:prstGeom prst="rect">
            <a:avLst/>
          </a:prstGeom>
          <a:ln w="0">
            <a:noFill/>
          </a:ln>
        </p:spPr>
      </p:sp>
      <p:sp>
        <p:nvSpPr>
          <p:cNvPr id="42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full 4-AVALUACIÓ!A4:A10 i 2-ANCORATGE CURRICULAR!A4:F12. Precisió directa del professor: exàmens en paper, pràctiques per preparar-los i recuperació dels RA suspesos a final de curs. El llindar de 5 o més es pren del full de càlcul.</a:t>
            </a:r>
            <a:endParaRPr lang="ca-ES" sz="2000" b="0" u="none" strike="noStrike">
              <a:solidFill>
                <a:srgbClr val="000000"/>
              </a:solidFill>
              <a:effectLst/>
              <a:uFillTx/>
              <a:latin typeface="Arial"/>
            </a:endParaRPr>
          </a:p>
        </p:txBody>
      </p:sp>
      <p:sp>
        <p:nvSpPr>
          <p:cNvPr id="429"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EA46EF-8C02-4FBE-B0DB-67341DAA3807}"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1143000" y="685800"/>
            <a:ext cx="4571640" cy="3428640"/>
          </a:xfrm>
          <a:prstGeom prst="rect">
            <a:avLst/>
          </a:prstGeom>
          <a:ln w="0">
            <a:noFill/>
          </a:ln>
        </p:spPr>
      </p:sp>
      <p:sp>
        <p:nvSpPr>
          <p:cNvPr id="43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full 4-AVALUACIÓ!A4:A10 i 2-ANCORATGE CURRICULAR!A4:F12. Precisió directa del professor: exàmens en paper, pràctiques per preparar-los i recuperació dels RA suspesos a final de curs. El llindar de 5 o més es pren del full de càlcul.</a:t>
            </a:r>
            <a:endParaRPr lang="ca-ES" sz="2000" b="0" u="none" strike="noStrike">
              <a:solidFill>
                <a:srgbClr val="000000"/>
              </a:solidFill>
              <a:effectLst/>
              <a:uFillTx/>
              <a:latin typeface="Arial"/>
            </a:endParaRPr>
          </a:p>
        </p:txBody>
      </p:sp>
      <p:sp>
        <p:nvSpPr>
          <p:cNvPr id="432"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520D33-D956-42EA-B401-F1DF8BF7674C}"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1143000" y="685800"/>
            <a:ext cx="4571640" cy="3428640"/>
          </a:xfrm>
          <a:prstGeom prst="rect">
            <a:avLst/>
          </a:prstGeom>
          <a:ln w="0">
            <a:noFill/>
          </a:ln>
        </p:spPr>
      </p:sp>
      <p:sp>
        <p:nvSpPr>
          <p:cNvPr id="43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full 4-AVALUACIÓ!A4:A10 i 2-ANCORATGE CURRICULAR!A4:F12. Precisió directa del professor: exàmens en paper, pràctiques per preparar-los i recuperació dels RA suspesos a final de curs. El llindar de 5 o més es pren del full de càlcul.</a:t>
            </a:r>
            <a:endParaRPr lang="ca-ES" sz="2000" b="0" u="none" strike="noStrike">
              <a:solidFill>
                <a:srgbClr val="000000"/>
              </a:solidFill>
              <a:effectLst/>
              <a:uFillTx/>
              <a:latin typeface="Arial"/>
            </a:endParaRPr>
          </a:p>
        </p:txBody>
      </p:sp>
      <p:sp>
        <p:nvSpPr>
          <p:cNvPr id="435"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86BC1E4-8D98-413A-95A4-364364054CF1}"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1143000" y="685800"/>
            <a:ext cx="4571640" cy="3428640"/>
          </a:xfrm>
          <a:prstGeom prst="rect">
            <a:avLst/>
          </a:prstGeom>
          <a:ln w="0">
            <a:noFill/>
          </a:ln>
        </p:spPr>
      </p:sp>
      <p:sp>
        <p:nvSpPr>
          <p:cNvPr id="43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full 4-AVALUACIÓ!A4:A10 i 2-ANCORATGE CURRICULAR!A4:F12. Precisió directa del professor: exàmens en paper, pràctiques per preparar-los i recuperació dels RA suspesos a final de curs. El llindar de 5 o més es pren del full de càlcul. Exemples numèrics il·lustratius.</a:t>
            </a:r>
            <a:endParaRPr lang="ca-ES" sz="2000" b="0" u="none" strike="noStrike">
              <a:solidFill>
                <a:srgbClr val="000000"/>
              </a:solidFill>
              <a:effectLst/>
              <a:uFillTx/>
              <a:latin typeface="Arial"/>
            </a:endParaRPr>
          </a:p>
        </p:txBody>
      </p:sp>
      <p:sp>
        <p:nvSpPr>
          <p:cNvPr id="438"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CF00D71-67EB-444F-B7C9-F360D8A4C76B}"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1143000" y="685800"/>
            <a:ext cx="4571640" cy="3428640"/>
          </a:xfrm>
          <a:prstGeom prst="rect">
            <a:avLst/>
          </a:prstGeom>
          <a:ln w="0">
            <a:noFill/>
          </a:ln>
        </p:spPr>
      </p:sp>
      <p:sp>
        <p:nvSpPr>
          <p:cNvPr id="44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full 4-AVALUACIÓ!A4:A10 i 2-ANCORATGE CURRICULAR!A4:F12. Precisió directa del professor: exàmens en paper, pràctiques per preparar-los i recuperació dels RA suspesos a final de curs. El llindar de 5 o més es pren del full de càlcul.</a:t>
            </a:r>
            <a:endParaRPr lang="ca-ES" sz="2000" b="0" u="none" strike="noStrike">
              <a:solidFill>
                <a:srgbClr val="000000"/>
              </a:solidFill>
              <a:effectLst/>
              <a:uFillTx/>
              <a:latin typeface="Arial"/>
            </a:endParaRPr>
          </a:p>
        </p:txBody>
      </p:sp>
      <p:sp>
        <p:nvSpPr>
          <p:cNvPr id="441"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445FCBC-D902-4854-973A-3159068F73B8}"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1143000" y="685800"/>
            <a:ext cx="4571640" cy="3428640"/>
          </a:xfrm>
          <a:prstGeom prst="rect">
            <a:avLst/>
          </a:prstGeom>
          <a:ln w="0">
            <a:noFill/>
          </a:ln>
        </p:spPr>
      </p:sp>
      <p:sp>
        <p:nvSpPr>
          <p:cNvPr id="44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ca-ES" sz="2000" b="0" u="none" strike="noStrike">
                <a:solidFill>
                  <a:srgbClr val="000000"/>
                </a:solidFill>
                <a:effectLst/>
                <a:uFillTx/>
                <a:latin typeface="Arial"/>
              </a:rPr>
              <a:t>Font: full 4-AVALUACIÓ!A4:A10 i 2-ANCORATGE CURRICULAR!A4:F12. Precisió directa del professor: exàmens en paper, pràctiques per preparar-los i recuperació dels RA suspesos a final de curs. El llindar de 5 o més es pren del full de càlcul.</a:t>
            </a:r>
            <a:endParaRPr lang="ca-ES" sz="2000" b="0" u="none" strike="noStrike">
              <a:solidFill>
                <a:srgbClr val="000000"/>
              </a:solidFill>
              <a:effectLst/>
              <a:uFillTx/>
              <a:latin typeface="Arial"/>
            </a:endParaRPr>
          </a:p>
        </p:txBody>
      </p:sp>
      <p:sp>
        <p:nvSpPr>
          <p:cNvPr id="444"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2069BFE-0061-4D20-B825-8833CBEDB2EE}" type="slidenum">
              <a:rPr lang="en-US" sz="1200" b="0" u="none" strike="noStrike">
                <a:solidFill>
                  <a:srgbClr val="000000"/>
                </a:solidFill>
                <a:effectLst/>
                <a:uFillTx/>
                <a:latin typeface="Times New Roman"/>
              </a:rPr>
              <a:t>&lt;número&gt;</a:t>
            </a:fld>
            <a:endParaRPr lang="ca-E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ED4A63F-892A-4BC8-AB9C-78BE8A24B0F8}"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A8C14D6-3C09-414A-85D7-98325B0D70DE}"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5B620B4-1F7C-4D93-81FD-FE4477CB1442}"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0E42905-1407-4580-817C-153E198742F5}"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3CA4618-776D-41D9-9B9D-D3AB2C895F2A}"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DDEC929-CD66-44B3-919B-BC3D1CFA2977}"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FD14BCE-033F-470F-9C06-8E9AD51FA625}"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0E26904-E6C3-4888-A35C-771BC80EBEB3}"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77B69CA-30CF-46CF-B5CC-ACB30E869432}"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Feu clic per a editar el format del text del títol</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Feu clic per a editar el format del text de l'esquema</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Segon nivell de l'esquema</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Tercer nivell de l'esquema</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Quart nivell de l'esquema</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Cinquè nivell de l'esquema</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Sisè nivell de l'esquema</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Setè nivell de l'esquema</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A798CB2-91B9-438A-B604-9BFCBFECA80D}"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Feu clic per a editar el format del text de l'esquema</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Segon nivell de l'esquema</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Tercer nivell de l'esquema</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Quart nivell de l'esquema</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Cinquè nivell de l'esquema</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Sisè nivell de l'esquema</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Setè nivell de l'esquema</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&lt;data/hora&gt;</a:t>
            </a:r>
            <a:endParaRPr lang="ca-E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ca-ES" sz="1400" b="0" u="none" strike="noStrike">
                <a:solidFill>
                  <a:srgbClr val="000000"/>
                </a:solidFill>
                <a:effectLst/>
                <a:uFillTx/>
                <a:latin typeface="Times New Roman"/>
              </a:defRPr>
            </a:lvl1pPr>
          </a:lstStyle>
          <a:p>
            <a:pPr indent="0" algn="ctr">
              <a:buNone/>
            </a:pPr>
            <a:r>
              <a:rPr lang="ca-ES" sz="1400" b="0" u="none" strike="noStrike">
                <a:solidFill>
                  <a:srgbClr val="000000"/>
                </a:solidFill>
                <a:effectLst/>
                <a:uFillTx/>
                <a:latin typeface="Times New Roman"/>
              </a:rPr>
              <a:t>&lt;peu de pàgina&gt;</a:t>
            </a:r>
            <a:endParaRPr lang="ca-E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76433A9-CFD7-40DA-A741-9958B863A0A6}" type="slidenum">
              <a:rPr lang="en-US" sz="1200" b="0" u="none" strike="noStrike">
                <a:solidFill>
                  <a:schemeClr val="dk1">
                    <a:tint val="75000"/>
                  </a:schemeClr>
                </a:solidFill>
                <a:effectLst/>
                <a:uFillTx/>
                <a:latin typeface="Calibri"/>
              </a:rPr>
              <a:t>&lt;número&gt;</a:t>
            </a:fld>
            <a:endParaRPr lang="ca-E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68"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0613 · DAW · 2026–2027</a:t>
            </a:r>
            <a:endParaRPr lang="ca-ES" sz="1100" b="0" u="none" strike="noStrike">
              <a:solidFill>
                <a:srgbClr val="000000"/>
              </a:solidFill>
              <a:effectLst/>
              <a:uFillTx/>
              <a:latin typeface="Arial"/>
            </a:endParaRPr>
          </a:p>
        </p:txBody>
      </p:sp>
      <p:sp>
        <p:nvSpPr>
          <p:cNvPr id="69" name="TextBox 3"/>
          <p:cNvSpPr/>
          <p:nvPr/>
        </p:nvSpPr>
        <p:spPr>
          <a:xfrm>
            <a:off x="530280" y="731520"/>
            <a:ext cx="11109600" cy="1371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4000" b="1" u="none" strike="noStrike">
                <a:solidFill>
                  <a:srgbClr val="175F16"/>
                </a:solidFill>
                <a:effectLst/>
                <a:uFillTx/>
                <a:latin typeface="Arial"/>
              </a:rPr>
              <a:t>Desenvolupament web</a:t>
            </a:r>
            <a:endParaRPr lang="ca-ES" sz="4000" b="0" u="none" strike="noStrike">
              <a:solidFill>
                <a:srgbClr val="000000"/>
              </a:solidFill>
              <a:effectLst/>
              <a:uFillTx/>
              <a:latin typeface="Arial"/>
            </a:endParaRPr>
          </a:p>
          <a:p>
            <a:pPr defTabSz="457200">
              <a:lnSpc>
                <a:spcPct val="100000"/>
              </a:lnSpc>
              <a:spcAft>
                <a:spcPts val="601"/>
              </a:spcAft>
            </a:pPr>
            <a:r>
              <a:rPr lang="en-US" sz="4000" b="1" u="none" strike="noStrike">
                <a:solidFill>
                  <a:srgbClr val="175F16"/>
                </a:solidFill>
                <a:effectLst/>
                <a:uFillTx/>
                <a:latin typeface="Arial"/>
              </a:rPr>
              <a:t>en entorn servidor</a:t>
            </a:r>
            <a:endParaRPr lang="ca-ES" sz="4000" b="0" u="none" strike="noStrike">
              <a:solidFill>
                <a:srgbClr val="000000"/>
              </a:solidFill>
              <a:effectLst/>
              <a:uFillTx/>
              <a:latin typeface="Arial"/>
            </a:endParaRPr>
          </a:p>
        </p:txBody>
      </p:sp>
      <p:sp>
        <p:nvSpPr>
          <p:cNvPr id="70"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71"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72"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01</a:t>
            </a:r>
            <a:endParaRPr lang="ca-ES" sz="1100" b="0" u="none" strike="noStrike">
              <a:solidFill>
                <a:srgbClr val="000000"/>
              </a:solidFill>
              <a:effectLst/>
              <a:uFillTx/>
              <a:latin typeface="Arial"/>
            </a:endParaRPr>
          </a:p>
        </p:txBody>
      </p:sp>
      <p:sp>
        <p:nvSpPr>
          <p:cNvPr id="73" name="TextBox 7"/>
          <p:cNvSpPr/>
          <p:nvPr/>
        </p:nvSpPr>
        <p:spPr>
          <a:xfrm>
            <a:off x="548640" y="2560320"/>
            <a:ext cx="7589160" cy="1371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400" b="0" u="none" strike="noStrike">
                <a:solidFill>
                  <a:srgbClr val="202124"/>
                </a:solidFill>
                <a:effectLst/>
                <a:uFillTx/>
                <a:latin typeface="Arial"/>
              </a:rPr>
              <a:t>La lògica que fa funcionar</a:t>
            </a:r>
            <a:endParaRPr lang="ca-ES" sz="3400" b="0" u="none" strike="noStrike">
              <a:solidFill>
                <a:srgbClr val="000000"/>
              </a:solidFill>
              <a:effectLst/>
              <a:uFillTx/>
              <a:latin typeface="Arial"/>
            </a:endParaRPr>
          </a:p>
          <a:p>
            <a:pPr defTabSz="457200">
              <a:lnSpc>
                <a:spcPct val="100000"/>
              </a:lnSpc>
              <a:spcAft>
                <a:spcPts val="601"/>
              </a:spcAft>
            </a:pPr>
            <a:r>
              <a:rPr lang="en-US" sz="3400" b="0" u="none" strike="noStrike">
                <a:solidFill>
                  <a:srgbClr val="202124"/>
                </a:solidFill>
                <a:effectLst/>
                <a:uFillTx/>
                <a:latin typeface="Arial"/>
              </a:rPr>
              <a:t>una aplicació web</a:t>
            </a:r>
            <a:endParaRPr lang="ca-ES" sz="3400" b="0" u="none" strike="noStrike">
              <a:solidFill>
                <a:srgbClr val="000000"/>
              </a:solidFill>
              <a:effectLst/>
              <a:uFillTx/>
              <a:latin typeface="Arial"/>
            </a:endParaRPr>
          </a:p>
        </p:txBody>
      </p:sp>
      <p:sp>
        <p:nvSpPr>
          <p:cNvPr id="74" name="TextBox 8"/>
          <p:cNvSpPr/>
          <p:nvPr/>
        </p:nvSpPr>
        <p:spPr>
          <a:xfrm>
            <a:off x="548640" y="4389120"/>
            <a:ext cx="7314840" cy="5940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David Pons</a:t>
            </a:r>
            <a:endParaRPr lang="ca-ES" sz="2800" b="0" u="none" strike="noStrike">
              <a:solidFill>
                <a:srgbClr val="000000"/>
              </a:solidFill>
              <a:effectLst/>
              <a:uFillTx/>
              <a:latin typeface="Arial"/>
            </a:endParaRPr>
          </a:p>
        </p:txBody>
      </p:sp>
      <p:sp>
        <p:nvSpPr>
          <p:cNvPr id="75" name="TextBox 9"/>
          <p:cNvSpPr/>
          <p:nvPr/>
        </p:nvSpPr>
        <p:spPr>
          <a:xfrm>
            <a:off x="548640" y="5047560"/>
            <a:ext cx="73148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400" b="0" u="none" strike="noStrike">
                <a:solidFill>
                  <a:srgbClr val="202124"/>
                </a:solidFill>
                <a:effectLst/>
                <a:uFillTx/>
                <a:latin typeface="Arial"/>
              </a:rPr>
              <a:t>CIFP Pau Casesnoves</a:t>
            </a:r>
            <a:endParaRPr lang="ca-ES" sz="2400" b="0" u="none" strike="noStrike">
              <a:solidFill>
                <a:srgbClr val="000000"/>
              </a:solidFill>
              <a:effectLst/>
              <a:uFillTx/>
              <a:latin typeface="Arial"/>
            </a:endParaRPr>
          </a:p>
        </p:txBody>
      </p:sp>
      <p:pic>
        <p:nvPicPr>
          <p:cNvPr id="76" name="Picture 10" descr="logo-pau-casesnoves.png"/>
          <p:cNvPicPr/>
          <p:nvPr/>
        </p:nvPicPr>
        <p:blipFill>
          <a:blip r:embed="rId1"/>
          <a:stretch/>
        </p:blipFill>
        <p:spPr>
          <a:xfrm>
            <a:off x="8595360" y="2606040"/>
            <a:ext cx="2468520" cy="2468520"/>
          </a:xfrm>
          <a:prstGeom prst="rect">
            <a:avLst/>
          </a:prstGeom>
          <a:noFill/>
          <a:ln w="0">
            <a:noFill/>
          </a:ln>
        </p:spPr>
      </p:pic>
      <p:sp>
        <p:nvSpPr>
          <p:cNvPr id="77" name="Rectangle 11"/>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 name="TextBox 12"/>
          <p:cNvSpPr/>
          <p:nvPr/>
        </p:nvSpPr>
        <p:spPr>
          <a:xfrm>
            <a:off x="749880" y="5715000"/>
            <a:ext cx="10698120" cy="372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230 hores · 6 hores setmanals · Java i Spring</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80"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01 · UNA IDEA GENERAL</a:t>
            </a:r>
            <a:endParaRPr lang="ca-ES" sz="1100" b="0" u="none" strike="noStrike">
              <a:solidFill>
                <a:srgbClr val="000000"/>
              </a:solidFill>
              <a:effectLst/>
              <a:uFillTx/>
              <a:latin typeface="Arial"/>
            </a:endParaRPr>
          </a:p>
        </p:txBody>
      </p:sp>
      <p:sp>
        <p:nvSpPr>
          <p:cNvPr id="81"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Què passa quan fas clic a «Reservar»?</a:t>
            </a:r>
            <a:endParaRPr lang="ca-ES" sz="3200" b="0" u="none" strike="noStrike">
              <a:solidFill>
                <a:srgbClr val="000000"/>
              </a:solidFill>
              <a:effectLst/>
              <a:uFillTx/>
              <a:latin typeface="Arial"/>
            </a:endParaRPr>
          </a:p>
        </p:txBody>
      </p:sp>
      <p:sp>
        <p:nvSpPr>
          <p:cNvPr id="82"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83"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84"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02</a:t>
            </a:r>
            <a:endParaRPr lang="ca-ES" sz="1100" b="0" u="none" strike="noStrike">
              <a:solidFill>
                <a:srgbClr val="000000"/>
              </a:solidFill>
              <a:effectLst/>
              <a:uFillTx/>
              <a:latin typeface="Arial"/>
            </a:endParaRPr>
          </a:p>
        </p:txBody>
      </p:sp>
      <p:sp>
        <p:nvSpPr>
          <p:cNvPr id="85" name="TextBox 7"/>
          <p:cNvSpPr/>
          <p:nvPr/>
        </p:nvSpPr>
        <p:spPr>
          <a:xfrm>
            <a:off x="548640" y="1673280"/>
            <a:ext cx="1097244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500" b="0" u="none" strike="noStrike">
                <a:solidFill>
                  <a:srgbClr val="202124"/>
                </a:solidFill>
                <a:effectLst/>
                <a:uFillTx/>
                <a:latin typeface="Arial"/>
              </a:rPr>
              <a:t>El navegador envia una petició. El servidor decideix què pot fer i retorna una resposta.</a:t>
            </a:r>
            <a:endParaRPr lang="ca-ES" sz="2500" b="0" u="none" strike="noStrike">
              <a:solidFill>
                <a:srgbClr val="000000"/>
              </a:solidFill>
              <a:effectLst/>
              <a:uFillTx/>
              <a:latin typeface="Arial"/>
            </a:endParaRPr>
          </a:p>
        </p:txBody>
      </p:sp>
      <p:sp>
        <p:nvSpPr>
          <p:cNvPr id="86" name="Rectangle 8"/>
          <p:cNvSpPr/>
          <p:nvPr/>
        </p:nvSpPr>
        <p:spPr>
          <a:xfrm>
            <a:off x="548640" y="2788920"/>
            <a:ext cx="3318840" cy="21484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 name="Rectangle 9"/>
          <p:cNvSpPr/>
          <p:nvPr/>
        </p:nvSpPr>
        <p:spPr>
          <a:xfrm>
            <a:off x="548640" y="2788920"/>
            <a:ext cx="40680" cy="21484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8" name="TextBox 10"/>
          <p:cNvSpPr/>
          <p:nvPr/>
        </p:nvSpPr>
        <p:spPr>
          <a:xfrm>
            <a:off x="768240" y="3008520"/>
            <a:ext cx="288000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Navegador</a:t>
            </a:r>
            <a:endParaRPr lang="ca-ES" sz="2300" b="0" u="none" strike="noStrike">
              <a:solidFill>
                <a:srgbClr val="000000"/>
              </a:solidFill>
              <a:effectLst/>
              <a:uFillTx/>
              <a:latin typeface="Arial"/>
            </a:endParaRPr>
          </a:p>
        </p:txBody>
      </p:sp>
      <p:sp>
        <p:nvSpPr>
          <p:cNvPr id="89" name="TextBox 11"/>
          <p:cNvSpPr/>
          <p:nvPr/>
        </p:nvSpPr>
        <p:spPr>
          <a:xfrm>
            <a:off x="768240" y="3767400"/>
            <a:ext cx="2880000" cy="11059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L’usuari demana</a:t>
            </a:r>
            <a:endParaRPr lang="ca-ES" sz="2200" b="0" u="none" strike="noStrike">
              <a:solidFill>
                <a:srgbClr val="000000"/>
              </a:solidFill>
              <a:effectLst/>
              <a:uFillTx/>
              <a:latin typeface="Arial"/>
            </a:endParaRPr>
          </a:p>
          <a:p>
            <a:pPr defTabSz="457200">
              <a:lnSpc>
                <a:spcPct val="100000"/>
              </a:lnSpc>
              <a:spcAft>
                <a:spcPts val="601"/>
              </a:spcAft>
            </a:pPr>
            <a:r>
              <a:rPr lang="en-US" sz="2200" b="0" u="none" strike="noStrike">
                <a:solidFill>
                  <a:srgbClr val="202124"/>
                </a:solidFill>
                <a:effectLst/>
                <a:uFillTx/>
                <a:latin typeface="Arial"/>
              </a:rPr>
              <a:t>reservar un llibre.</a:t>
            </a:r>
            <a:endParaRPr lang="ca-ES" sz="2200" b="0" u="none" strike="noStrike">
              <a:solidFill>
                <a:srgbClr val="000000"/>
              </a:solidFill>
              <a:effectLst/>
              <a:uFillTx/>
              <a:latin typeface="Arial"/>
            </a:endParaRPr>
          </a:p>
        </p:txBody>
      </p:sp>
      <p:sp>
        <p:nvSpPr>
          <p:cNvPr id="90" name="Rectangle 12"/>
          <p:cNvSpPr/>
          <p:nvPr/>
        </p:nvSpPr>
        <p:spPr>
          <a:xfrm>
            <a:off x="4434840" y="2788920"/>
            <a:ext cx="3318840" cy="21484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Rectangle 13"/>
          <p:cNvSpPr/>
          <p:nvPr/>
        </p:nvSpPr>
        <p:spPr>
          <a:xfrm>
            <a:off x="4434840" y="2788920"/>
            <a:ext cx="40680" cy="21484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 name="TextBox 14"/>
          <p:cNvSpPr/>
          <p:nvPr/>
        </p:nvSpPr>
        <p:spPr>
          <a:xfrm>
            <a:off x="4654440" y="3008520"/>
            <a:ext cx="288000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Servidor</a:t>
            </a:r>
            <a:endParaRPr lang="ca-ES" sz="2300" b="0" u="none" strike="noStrike">
              <a:solidFill>
                <a:srgbClr val="000000"/>
              </a:solidFill>
              <a:effectLst/>
              <a:uFillTx/>
              <a:latin typeface="Arial"/>
            </a:endParaRPr>
          </a:p>
        </p:txBody>
      </p:sp>
      <p:sp>
        <p:nvSpPr>
          <p:cNvPr id="93" name="TextBox 15"/>
          <p:cNvSpPr/>
          <p:nvPr/>
        </p:nvSpPr>
        <p:spPr>
          <a:xfrm>
            <a:off x="4654440" y="3767400"/>
            <a:ext cx="2880000" cy="11059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Comprova disponibilitat</a:t>
            </a:r>
            <a:endParaRPr lang="ca-ES" sz="2200" b="0" u="none" strike="noStrike">
              <a:solidFill>
                <a:srgbClr val="000000"/>
              </a:solidFill>
              <a:effectLst/>
              <a:uFillTx/>
              <a:latin typeface="Arial"/>
            </a:endParaRPr>
          </a:p>
          <a:p>
            <a:pPr defTabSz="457200">
              <a:lnSpc>
                <a:spcPct val="100000"/>
              </a:lnSpc>
              <a:spcAft>
                <a:spcPts val="601"/>
              </a:spcAft>
            </a:pPr>
            <a:r>
              <a:rPr lang="en-US" sz="2200" b="0" u="none" strike="noStrike">
                <a:solidFill>
                  <a:srgbClr val="202124"/>
                </a:solidFill>
                <a:effectLst/>
                <a:uFillTx/>
                <a:latin typeface="Arial"/>
              </a:rPr>
              <a:t>i aplica les regles.</a:t>
            </a:r>
            <a:endParaRPr lang="ca-ES" sz="2200" b="0" u="none" strike="noStrike">
              <a:solidFill>
                <a:srgbClr val="000000"/>
              </a:solidFill>
              <a:effectLst/>
              <a:uFillTx/>
              <a:latin typeface="Arial"/>
            </a:endParaRPr>
          </a:p>
        </p:txBody>
      </p:sp>
      <p:sp>
        <p:nvSpPr>
          <p:cNvPr id="94" name="Rectangle 16"/>
          <p:cNvSpPr/>
          <p:nvPr/>
        </p:nvSpPr>
        <p:spPr>
          <a:xfrm>
            <a:off x="8321040" y="2788920"/>
            <a:ext cx="3318840" cy="21484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5" name="Rectangle 17"/>
          <p:cNvSpPr/>
          <p:nvPr/>
        </p:nvSpPr>
        <p:spPr>
          <a:xfrm>
            <a:off x="8321040" y="2788920"/>
            <a:ext cx="40680" cy="21484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6" name="TextBox 18"/>
          <p:cNvSpPr/>
          <p:nvPr/>
        </p:nvSpPr>
        <p:spPr>
          <a:xfrm>
            <a:off x="8540640" y="3008520"/>
            <a:ext cx="288000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Dades</a:t>
            </a:r>
            <a:endParaRPr lang="ca-ES" sz="2300" b="0" u="none" strike="noStrike">
              <a:solidFill>
                <a:srgbClr val="000000"/>
              </a:solidFill>
              <a:effectLst/>
              <a:uFillTx/>
              <a:latin typeface="Arial"/>
            </a:endParaRPr>
          </a:p>
        </p:txBody>
      </p:sp>
      <p:sp>
        <p:nvSpPr>
          <p:cNvPr id="97" name="TextBox 19"/>
          <p:cNvSpPr/>
          <p:nvPr/>
        </p:nvSpPr>
        <p:spPr>
          <a:xfrm>
            <a:off x="8540640" y="3767400"/>
            <a:ext cx="2880000" cy="11059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Consulta i desa</a:t>
            </a:r>
            <a:endParaRPr lang="ca-ES" sz="2200" b="0" u="none" strike="noStrike">
              <a:solidFill>
                <a:srgbClr val="000000"/>
              </a:solidFill>
              <a:effectLst/>
              <a:uFillTx/>
              <a:latin typeface="Arial"/>
            </a:endParaRPr>
          </a:p>
          <a:p>
            <a:pPr defTabSz="457200">
              <a:lnSpc>
                <a:spcPct val="100000"/>
              </a:lnSpc>
              <a:spcAft>
                <a:spcPts val="601"/>
              </a:spcAft>
            </a:pPr>
            <a:r>
              <a:rPr lang="en-US" sz="2200" b="0" u="none" strike="noStrike">
                <a:solidFill>
                  <a:srgbClr val="202124"/>
                </a:solidFill>
                <a:effectLst/>
                <a:uFillTx/>
                <a:latin typeface="Arial"/>
              </a:rPr>
              <a:t>la reserva.</a:t>
            </a:r>
            <a:endParaRPr lang="ca-ES" sz="2200" b="0" u="none" strike="noStrike">
              <a:solidFill>
                <a:srgbClr val="000000"/>
              </a:solidFill>
              <a:effectLst/>
              <a:uFillTx/>
              <a:latin typeface="Arial"/>
            </a:endParaRPr>
          </a:p>
        </p:txBody>
      </p:sp>
      <p:sp>
        <p:nvSpPr>
          <p:cNvPr id="98" name="TextBox 20"/>
          <p:cNvSpPr/>
          <p:nvPr/>
        </p:nvSpPr>
        <p:spPr>
          <a:xfrm>
            <a:off x="3931920" y="3566160"/>
            <a:ext cx="438480" cy="548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a:t>
            </a:r>
            <a:endParaRPr lang="ca-ES" sz="2800" b="0" u="none" strike="noStrike">
              <a:solidFill>
                <a:srgbClr val="000000"/>
              </a:solidFill>
              <a:effectLst/>
              <a:uFillTx/>
              <a:latin typeface="Arial"/>
            </a:endParaRPr>
          </a:p>
        </p:txBody>
      </p:sp>
      <p:sp>
        <p:nvSpPr>
          <p:cNvPr id="99" name="TextBox 21"/>
          <p:cNvSpPr/>
          <p:nvPr/>
        </p:nvSpPr>
        <p:spPr>
          <a:xfrm>
            <a:off x="7818120" y="3566160"/>
            <a:ext cx="438480" cy="548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a:t>
            </a:r>
            <a:endParaRPr lang="ca-ES" sz="2800" b="0" u="none" strike="noStrike">
              <a:solidFill>
                <a:srgbClr val="000000"/>
              </a:solidFill>
              <a:effectLst/>
              <a:uFillTx/>
              <a:latin typeface="Arial"/>
            </a:endParaRPr>
          </a:p>
        </p:txBody>
      </p:sp>
      <p:sp>
        <p:nvSpPr>
          <p:cNvPr id="100" name="Rectangle 22"/>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 name="TextBox 23"/>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En aquest mòdul construirem la part del servidor.</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03"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01 · UNA IDEA GENERAL</a:t>
            </a:r>
            <a:endParaRPr lang="ca-ES" sz="1100" b="0" u="none" strike="noStrike">
              <a:solidFill>
                <a:srgbClr val="000000"/>
              </a:solidFill>
              <a:effectLst/>
              <a:uFillTx/>
              <a:latin typeface="Arial"/>
            </a:endParaRPr>
          </a:p>
        </p:txBody>
      </p:sp>
      <p:sp>
        <p:nvSpPr>
          <p:cNvPr id="104"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Aprendre a construir aplicacions ben organitzades</a:t>
            </a:r>
            <a:endParaRPr lang="ca-ES" sz="3200" b="0" u="none" strike="noStrike">
              <a:solidFill>
                <a:srgbClr val="000000"/>
              </a:solidFill>
              <a:effectLst/>
              <a:uFillTx/>
              <a:latin typeface="Arial"/>
            </a:endParaRPr>
          </a:p>
        </p:txBody>
      </p:sp>
      <p:sp>
        <p:nvSpPr>
          <p:cNvPr id="105"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06"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107"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03</a:t>
            </a:r>
            <a:endParaRPr lang="ca-ES" sz="1100" b="0" u="none" strike="noStrike">
              <a:solidFill>
                <a:srgbClr val="000000"/>
              </a:solidFill>
              <a:effectLst/>
              <a:uFillTx/>
              <a:latin typeface="Arial"/>
            </a:endParaRPr>
          </a:p>
        </p:txBody>
      </p:sp>
      <p:sp>
        <p:nvSpPr>
          <p:cNvPr id="108" name="Rectangle 7"/>
          <p:cNvSpPr/>
          <p:nvPr/>
        </p:nvSpPr>
        <p:spPr>
          <a:xfrm>
            <a:off x="548640" y="1828800"/>
            <a:ext cx="3529080" cy="324576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 name="Rectangle 8"/>
          <p:cNvSpPr/>
          <p:nvPr/>
        </p:nvSpPr>
        <p:spPr>
          <a:xfrm>
            <a:off x="548640" y="1828800"/>
            <a:ext cx="40680" cy="324576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0" name="TextBox 9"/>
          <p:cNvSpPr/>
          <p:nvPr/>
        </p:nvSpPr>
        <p:spPr>
          <a:xfrm>
            <a:off x="768240" y="1965960"/>
            <a:ext cx="30902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01</a:t>
            </a:r>
            <a:endParaRPr lang="ca-ES" sz="2800" b="0" u="none" strike="noStrike">
              <a:solidFill>
                <a:srgbClr val="000000"/>
              </a:solidFill>
              <a:effectLst/>
              <a:uFillTx/>
              <a:latin typeface="Arial"/>
            </a:endParaRPr>
          </a:p>
        </p:txBody>
      </p:sp>
      <p:sp>
        <p:nvSpPr>
          <p:cNvPr id="111" name="TextBox 10"/>
          <p:cNvSpPr/>
          <p:nvPr/>
        </p:nvSpPr>
        <p:spPr>
          <a:xfrm>
            <a:off x="768240" y="253296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Responsabilitats clares</a:t>
            </a:r>
            <a:endParaRPr lang="ca-ES" sz="2300" b="0" u="none" strike="noStrike">
              <a:solidFill>
                <a:srgbClr val="000000"/>
              </a:solidFill>
              <a:effectLst/>
              <a:uFillTx/>
              <a:latin typeface="Arial"/>
            </a:endParaRPr>
          </a:p>
        </p:txBody>
      </p:sp>
      <p:sp>
        <p:nvSpPr>
          <p:cNvPr id="112" name="TextBox 11"/>
          <p:cNvSpPr/>
          <p:nvPr/>
        </p:nvSpPr>
        <p:spPr>
          <a:xfrm>
            <a:off x="768240" y="3291840"/>
            <a:ext cx="3090240" cy="17186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Cada classe i cada capa tenen una funció dins l’aplicació.</a:t>
            </a:r>
            <a:endParaRPr lang="ca-ES" sz="2200" b="0" u="none" strike="noStrike">
              <a:solidFill>
                <a:srgbClr val="000000"/>
              </a:solidFill>
              <a:effectLst/>
              <a:uFillTx/>
              <a:latin typeface="Arial"/>
            </a:endParaRPr>
          </a:p>
        </p:txBody>
      </p:sp>
      <p:sp>
        <p:nvSpPr>
          <p:cNvPr id="113" name="Rectangle 12"/>
          <p:cNvSpPr/>
          <p:nvPr/>
        </p:nvSpPr>
        <p:spPr>
          <a:xfrm>
            <a:off x="4334400" y="1828800"/>
            <a:ext cx="3529080" cy="324576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4" name="Rectangle 13"/>
          <p:cNvSpPr/>
          <p:nvPr/>
        </p:nvSpPr>
        <p:spPr>
          <a:xfrm>
            <a:off x="4334400" y="1828800"/>
            <a:ext cx="40680" cy="324576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5" name="TextBox 14"/>
          <p:cNvSpPr/>
          <p:nvPr/>
        </p:nvSpPr>
        <p:spPr>
          <a:xfrm>
            <a:off x="4553640" y="1965960"/>
            <a:ext cx="30902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02</a:t>
            </a:r>
            <a:endParaRPr lang="ca-ES" sz="2800" b="0" u="none" strike="noStrike">
              <a:solidFill>
                <a:srgbClr val="000000"/>
              </a:solidFill>
              <a:effectLst/>
              <a:uFillTx/>
              <a:latin typeface="Arial"/>
            </a:endParaRPr>
          </a:p>
        </p:txBody>
      </p:sp>
      <p:sp>
        <p:nvSpPr>
          <p:cNvPr id="116" name="TextBox 15"/>
          <p:cNvSpPr/>
          <p:nvPr/>
        </p:nvSpPr>
        <p:spPr>
          <a:xfrm>
            <a:off x="4553640" y="253296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Dades i serveis</a:t>
            </a:r>
            <a:endParaRPr lang="ca-ES" sz="2300" b="0" u="none" strike="noStrike">
              <a:solidFill>
                <a:srgbClr val="000000"/>
              </a:solidFill>
              <a:effectLst/>
              <a:uFillTx/>
              <a:latin typeface="Arial"/>
            </a:endParaRPr>
          </a:p>
        </p:txBody>
      </p:sp>
      <p:sp>
        <p:nvSpPr>
          <p:cNvPr id="117" name="TextBox 16"/>
          <p:cNvSpPr/>
          <p:nvPr/>
        </p:nvSpPr>
        <p:spPr>
          <a:xfrm>
            <a:off x="4553640" y="3291840"/>
            <a:ext cx="3090240" cy="17186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Consultam dades, aplicam regles de negoci i exposam funcionalitats.</a:t>
            </a:r>
            <a:endParaRPr lang="ca-ES" sz="2200" b="0" u="none" strike="noStrike">
              <a:solidFill>
                <a:srgbClr val="000000"/>
              </a:solidFill>
              <a:effectLst/>
              <a:uFillTx/>
              <a:latin typeface="Arial"/>
            </a:endParaRPr>
          </a:p>
        </p:txBody>
      </p:sp>
      <p:sp>
        <p:nvSpPr>
          <p:cNvPr id="118" name="Rectangle 17"/>
          <p:cNvSpPr/>
          <p:nvPr/>
        </p:nvSpPr>
        <p:spPr>
          <a:xfrm>
            <a:off x="8119800" y="1828800"/>
            <a:ext cx="3529080" cy="324576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9" name="Rectangle 18"/>
          <p:cNvSpPr/>
          <p:nvPr/>
        </p:nvSpPr>
        <p:spPr>
          <a:xfrm>
            <a:off x="8119800" y="1828800"/>
            <a:ext cx="40680" cy="324576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0" name="TextBox 19"/>
          <p:cNvSpPr/>
          <p:nvPr/>
        </p:nvSpPr>
        <p:spPr>
          <a:xfrm>
            <a:off x="8339400" y="1965960"/>
            <a:ext cx="30902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03</a:t>
            </a:r>
            <a:endParaRPr lang="ca-ES" sz="2800" b="0" u="none" strike="noStrike">
              <a:solidFill>
                <a:srgbClr val="000000"/>
              </a:solidFill>
              <a:effectLst/>
              <a:uFillTx/>
              <a:latin typeface="Arial"/>
            </a:endParaRPr>
          </a:p>
        </p:txBody>
      </p:sp>
      <p:sp>
        <p:nvSpPr>
          <p:cNvPr id="121" name="TextBox 20"/>
          <p:cNvSpPr/>
          <p:nvPr/>
        </p:nvSpPr>
        <p:spPr>
          <a:xfrm>
            <a:off x="8339400" y="253296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Qualitat del codi</a:t>
            </a:r>
            <a:endParaRPr lang="ca-ES" sz="2300" b="0" u="none" strike="noStrike">
              <a:solidFill>
                <a:srgbClr val="000000"/>
              </a:solidFill>
              <a:effectLst/>
              <a:uFillTx/>
              <a:latin typeface="Arial"/>
            </a:endParaRPr>
          </a:p>
        </p:txBody>
      </p:sp>
      <p:sp>
        <p:nvSpPr>
          <p:cNvPr id="122" name="TextBox 21"/>
          <p:cNvSpPr/>
          <p:nvPr/>
        </p:nvSpPr>
        <p:spPr>
          <a:xfrm>
            <a:off x="8339400" y="3291840"/>
            <a:ext cx="3090240" cy="17186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Cercam aplicacions comprensibles, mantenibles i comprovables.</a:t>
            </a:r>
            <a:endParaRPr lang="ca-ES" sz="2200" b="0" u="none" strike="noStrike">
              <a:solidFill>
                <a:srgbClr val="000000"/>
              </a:solidFill>
              <a:effectLst/>
              <a:uFillTx/>
              <a:latin typeface="Arial"/>
            </a:endParaRPr>
          </a:p>
        </p:txBody>
      </p:sp>
      <p:sp>
        <p:nvSpPr>
          <p:cNvPr id="123" name="Rectangle 22"/>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4" name="TextBox 23"/>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Java i Spring seran les eines habituals del curs.</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26"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02 · EL MÒDUL DINS DAW</a:t>
            </a:r>
            <a:endParaRPr lang="ca-ES" sz="1100" b="0" u="none" strike="noStrike">
              <a:solidFill>
                <a:srgbClr val="000000"/>
              </a:solidFill>
              <a:effectLst/>
              <a:uFillTx/>
              <a:latin typeface="Arial"/>
            </a:endParaRPr>
          </a:p>
        </p:txBody>
      </p:sp>
      <p:sp>
        <p:nvSpPr>
          <p:cNvPr id="127"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Els fonaments que connectarem</a:t>
            </a:r>
            <a:endParaRPr lang="ca-ES" sz="3200" b="0" u="none" strike="noStrike">
              <a:solidFill>
                <a:srgbClr val="000000"/>
              </a:solidFill>
              <a:effectLst/>
              <a:uFillTx/>
              <a:latin typeface="Arial"/>
            </a:endParaRPr>
          </a:p>
        </p:txBody>
      </p:sp>
      <p:sp>
        <p:nvSpPr>
          <p:cNvPr id="128"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29"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130"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04</a:t>
            </a:r>
            <a:endParaRPr lang="ca-ES" sz="1100" b="0" u="none" strike="noStrike">
              <a:solidFill>
                <a:srgbClr val="000000"/>
              </a:solidFill>
              <a:effectLst/>
              <a:uFillTx/>
              <a:latin typeface="Arial"/>
            </a:endParaRPr>
          </a:p>
        </p:txBody>
      </p:sp>
      <p:sp>
        <p:nvSpPr>
          <p:cNvPr id="131" name="Rectangle 7"/>
          <p:cNvSpPr/>
          <p:nvPr/>
        </p:nvSpPr>
        <p:spPr>
          <a:xfrm>
            <a:off x="548640" y="1783080"/>
            <a:ext cx="5394600" cy="18100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2" name="Rectangle 8"/>
          <p:cNvSpPr/>
          <p:nvPr/>
        </p:nvSpPr>
        <p:spPr>
          <a:xfrm>
            <a:off x="548640" y="1783080"/>
            <a:ext cx="40680" cy="1810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3" name="TextBox 9"/>
          <p:cNvSpPr/>
          <p:nvPr/>
        </p:nvSpPr>
        <p:spPr>
          <a:xfrm>
            <a:off x="768240" y="200268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Programació</a:t>
            </a:r>
            <a:endParaRPr lang="ca-ES" sz="2300" b="0" u="none" strike="noStrike">
              <a:solidFill>
                <a:srgbClr val="000000"/>
              </a:solidFill>
              <a:effectLst/>
              <a:uFillTx/>
              <a:latin typeface="Arial"/>
            </a:endParaRPr>
          </a:p>
        </p:txBody>
      </p:sp>
      <p:sp>
        <p:nvSpPr>
          <p:cNvPr id="134" name="TextBox 10"/>
          <p:cNvSpPr/>
          <p:nvPr/>
        </p:nvSpPr>
        <p:spPr>
          <a:xfrm>
            <a:off x="768240" y="2761560"/>
            <a:ext cx="4955760" cy="7678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Classes, objectes, interfícies i estructures de control.</a:t>
            </a:r>
            <a:endParaRPr lang="ca-ES" sz="2200" b="0" u="none" strike="noStrike">
              <a:solidFill>
                <a:srgbClr val="000000"/>
              </a:solidFill>
              <a:effectLst/>
              <a:uFillTx/>
              <a:latin typeface="Arial"/>
            </a:endParaRPr>
          </a:p>
        </p:txBody>
      </p:sp>
      <p:sp>
        <p:nvSpPr>
          <p:cNvPr id="135" name="Rectangle 11"/>
          <p:cNvSpPr/>
          <p:nvPr/>
        </p:nvSpPr>
        <p:spPr>
          <a:xfrm>
            <a:off x="6245280" y="1783080"/>
            <a:ext cx="5394600" cy="18100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6" name="Rectangle 12"/>
          <p:cNvSpPr/>
          <p:nvPr/>
        </p:nvSpPr>
        <p:spPr>
          <a:xfrm>
            <a:off x="6245280" y="1783080"/>
            <a:ext cx="40680" cy="1810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7" name="TextBox 13"/>
          <p:cNvSpPr/>
          <p:nvPr/>
        </p:nvSpPr>
        <p:spPr>
          <a:xfrm>
            <a:off x="6464880" y="200268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Bases de dades</a:t>
            </a:r>
            <a:endParaRPr lang="ca-ES" sz="2300" b="0" u="none" strike="noStrike">
              <a:solidFill>
                <a:srgbClr val="000000"/>
              </a:solidFill>
              <a:effectLst/>
              <a:uFillTx/>
              <a:latin typeface="Arial"/>
            </a:endParaRPr>
          </a:p>
        </p:txBody>
      </p:sp>
      <p:sp>
        <p:nvSpPr>
          <p:cNvPr id="138" name="TextBox 14"/>
          <p:cNvSpPr/>
          <p:nvPr/>
        </p:nvSpPr>
        <p:spPr>
          <a:xfrm>
            <a:off x="6464880" y="2761560"/>
            <a:ext cx="4955760" cy="7678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Model de dades, consultes i persistència.</a:t>
            </a:r>
            <a:endParaRPr lang="ca-ES" sz="2200" b="0" u="none" strike="noStrike">
              <a:solidFill>
                <a:srgbClr val="000000"/>
              </a:solidFill>
              <a:effectLst/>
              <a:uFillTx/>
              <a:latin typeface="Arial"/>
            </a:endParaRPr>
          </a:p>
        </p:txBody>
      </p:sp>
      <p:sp>
        <p:nvSpPr>
          <p:cNvPr id="139" name="Rectangle 15"/>
          <p:cNvSpPr/>
          <p:nvPr/>
        </p:nvSpPr>
        <p:spPr>
          <a:xfrm>
            <a:off x="548640" y="3767400"/>
            <a:ext cx="5394600" cy="18100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 name="Rectangle 16"/>
          <p:cNvSpPr/>
          <p:nvPr/>
        </p:nvSpPr>
        <p:spPr>
          <a:xfrm>
            <a:off x="548640" y="3767400"/>
            <a:ext cx="40680" cy="1810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1" name="TextBox 17"/>
          <p:cNvSpPr/>
          <p:nvPr/>
        </p:nvSpPr>
        <p:spPr>
          <a:xfrm>
            <a:off x="768240" y="398664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Llenguatges de marques</a:t>
            </a:r>
            <a:endParaRPr lang="ca-ES" sz="2300" b="0" u="none" strike="noStrike">
              <a:solidFill>
                <a:srgbClr val="000000"/>
              </a:solidFill>
              <a:effectLst/>
              <a:uFillTx/>
              <a:latin typeface="Arial"/>
            </a:endParaRPr>
          </a:p>
        </p:txBody>
      </p:sp>
      <p:sp>
        <p:nvSpPr>
          <p:cNvPr id="142" name="TextBox 18"/>
          <p:cNvSpPr/>
          <p:nvPr/>
        </p:nvSpPr>
        <p:spPr>
          <a:xfrm>
            <a:off x="768240" y="4745880"/>
            <a:ext cx="4955760" cy="7678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HTML i formats d’intercanvi d’informació.</a:t>
            </a:r>
            <a:endParaRPr lang="ca-ES" sz="2200" b="0" u="none" strike="noStrike">
              <a:solidFill>
                <a:srgbClr val="000000"/>
              </a:solidFill>
              <a:effectLst/>
              <a:uFillTx/>
              <a:latin typeface="Arial"/>
            </a:endParaRPr>
          </a:p>
        </p:txBody>
      </p:sp>
      <p:sp>
        <p:nvSpPr>
          <p:cNvPr id="143" name="Rectangle 19"/>
          <p:cNvSpPr/>
          <p:nvPr/>
        </p:nvSpPr>
        <p:spPr>
          <a:xfrm>
            <a:off x="6245280" y="3767400"/>
            <a:ext cx="5394600" cy="18100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4" name="Rectangle 20"/>
          <p:cNvSpPr/>
          <p:nvPr/>
        </p:nvSpPr>
        <p:spPr>
          <a:xfrm>
            <a:off x="6245280" y="3767400"/>
            <a:ext cx="40680" cy="1810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5" name="TextBox 21"/>
          <p:cNvSpPr/>
          <p:nvPr/>
        </p:nvSpPr>
        <p:spPr>
          <a:xfrm>
            <a:off x="6464880" y="398664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Entorns de desenvolupament</a:t>
            </a:r>
            <a:endParaRPr lang="ca-ES" sz="2300" b="0" u="none" strike="noStrike">
              <a:solidFill>
                <a:srgbClr val="000000"/>
              </a:solidFill>
              <a:effectLst/>
              <a:uFillTx/>
              <a:latin typeface="Arial"/>
            </a:endParaRPr>
          </a:p>
        </p:txBody>
      </p:sp>
      <p:sp>
        <p:nvSpPr>
          <p:cNvPr id="146" name="TextBox 22"/>
          <p:cNvSpPr/>
          <p:nvPr/>
        </p:nvSpPr>
        <p:spPr>
          <a:xfrm>
            <a:off x="6464880" y="4745880"/>
            <a:ext cx="4955760" cy="7678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Eines per escriure, depurar i provar el codi.</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48"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02 · EL MÒDUL DINS DAW</a:t>
            </a:r>
            <a:endParaRPr lang="ca-ES" sz="1100" b="0" u="none" strike="noStrike">
              <a:solidFill>
                <a:srgbClr val="000000"/>
              </a:solidFill>
              <a:effectLst/>
              <a:uFillTx/>
              <a:latin typeface="Arial"/>
            </a:endParaRPr>
          </a:p>
        </p:txBody>
      </p:sp>
      <p:sp>
        <p:nvSpPr>
          <p:cNvPr id="149"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D’una interfície a una aplicació completa</a:t>
            </a:r>
            <a:endParaRPr lang="ca-ES" sz="3200" b="0" u="none" strike="noStrike">
              <a:solidFill>
                <a:srgbClr val="000000"/>
              </a:solidFill>
              <a:effectLst/>
              <a:uFillTx/>
              <a:latin typeface="Arial"/>
            </a:endParaRPr>
          </a:p>
        </p:txBody>
      </p:sp>
      <p:sp>
        <p:nvSpPr>
          <p:cNvPr id="150"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51"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152"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05</a:t>
            </a:r>
            <a:endParaRPr lang="ca-ES" sz="1100" b="0" u="none" strike="noStrike">
              <a:solidFill>
                <a:srgbClr val="000000"/>
              </a:solidFill>
              <a:effectLst/>
              <a:uFillTx/>
              <a:latin typeface="Arial"/>
            </a:endParaRPr>
          </a:p>
        </p:txBody>
      </p:sp>
      <p:sp>
        <p:nvSpPr>
          <p:cNvPr id="153" name="Rectangle 7"/>
          <p:cNvSpPr/>
          <p:nvPr/>
        </p:nvSpPr>
        <p:spPr>
          <a:xfrm>
            <a:off x="548640" y="1783080"/>
            <a:ext cx="3529080" cy="28342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4" name="Rectangle 8"/>
          <p:cNvSpPr/>
          <p:nvPr/>
        </p:nvSpPr>
        <p:spPr>
          <a:xfrm>
            <a:off x="548640" y="1783080"/>
            <a:ext cx="40680" cy="28342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5" name="TextBox 9"/>
          <p:cNvSpPr/>
          <p:nvPr/>
        </p:nvSpPr>
        <p:spPr>
          <a:xfrm>
            <a:off x="768240" y="200268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Client i interfícies</a:t>
            </a:r>
            <a:endParaRPr lang="ca-ES" sz="2300" b="0" u="none" strike="noStrike">
              <a:solidFill>
                <a:srgbClr val="000000"/>
              </a:solidFill>
              <a:effectLst/>
              <a:uFillTx/>
              <a:latin typeface="Arial"/>
            </a:endParaRPr>
          </a:p>
        </p:txBody>
      </p:sp>
      <p:sp>
        <p:nvSpPr>
          <p:cNvPr id="156" name="TextBox 10"/>
          <p:cNvSpPr/>
          <p:nvPr/>
        </p:nvSpPr>
        <p:spPr>
          <a:xfrm>
            <a:off x="768240" y="2761560"/>
            <a:ext cx="3090240" cy="17917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Interacció al navegador, formularis i presentació de la informació.</a:t>
            </a:r>
            <a:endParaRPr lang="ca-ES" sz="2200" b="0" u="none" strike="noStrike">
              <a:solidFill>
                <a:srgbClr val="000000"/>
              </a:solidFill>
              <a:effectLst/>
              <a:uFillTx/>
              <a:latin typeface="Arial"/>
            </a:endParaRPr>
          </a:p>
        </p:txBody>
      </p:sp>
      <p:sp>
        <p:nvSpPr>
          <p:cNvPr id="157" name="Rectangle 11"/>
          <p:cNvSpPr/>
          <p:nvPr/>
        </p:nvSpPr>
        <p:spPr>
          <a:xfrm>
            <a:off x="4334400" y="1783080"/>
            <a:ext cx="3529080" cy="28342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8" name="Rectangle 12"/>
          <p:cNvSpPr/>
          <p:nvPr/>
        </p:nvSpPr>
        <p:spPr>
          <a:xfrm>
            <a:off x="4334400" y="1783080"/>
            <a:ext cx="40680" cy="28342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9" name="TextBox 13"/>
          <p:cNvSpPr/>
          <p:nvPr/>
        </p:nvSpPr>
        <p:spPr>
          <a:xfrm>
            <a:off x="4553640" y="200268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Entorn servidor</a:t>
            </a:r>
            <a:endParaRPr lang="ca-ES" sz="2300" b="0" u="none" strike="noStrike">
              <a:solidFill>
                <a:srgbClr val="000000"/>
              </a:solidFill>
              <a:effectLst/>
              <a:uFillTx/>
              <a:latin typeface="Arial"/>
            </a:endParaRPr>
          </a:p>
        </p:txBody>
      </p:sp>
      <p:sp>
        <p:nvSpPr>
          <p:cNvPr id="160" name="TextBox 14"/>
          <p:cNvSpPr/>
          <p:nvPr/>
        </p:nvSpPr>
        <p:spPr>
          <a:xfrm>
            <a:off x="4553640" y="2761560"/>
            <a:ext cx="3090240" cy="17917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Peticions HTTP, regles de negoci, dades i serveis web.</a:t>
            </a:r>
            <a:endParaRPr lang="ca-ES" sz="2200" b="0" u="none" strike="noStrike">
              <a:solidFill>
                <a:srgbClr val="000000"/>
              </a:solidFill>
              <a:effectLst/>
              <a:uFillTx/>
              <a:latin typeface="Arial"/>
            </a:endParaRPr>
          </a:p>
        </p:txBody>
      </p:sp>
      <p:sp>
        <p:nvSpPr>
          <p:cNvPr id="161" name="Rectangle 15"/>
          <p:cNvSpPr/>
          <p:nvPr/>
        </p:nvSpPr>
        <p:spPr>
          <a:xfrm>
            <a:off x="8119800" y="1783080"/>
            <a:ext cx="3529080" cy="28342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2" name="Rectangle 16"/>
          <p:cNvSpPr/>
          <p:nvPr/>
        </p:nvSpPr>
        <p:spPr>
          <a:xfrm>
            <a:off x="8119800" y="1783080"/>
            <a:ext cx="40680" cy="28342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3" name="TextBox 17"/>
          <p:cNvSpPr/>
          <p:nvPr/>
        </p:nvSpPr>
        <p:spPr>
          <a:xfrm>
            <a:off x="8339400" y="200268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Desplegament</a:t>
            </a:r>
            <a:endParaRPr lang="ca-ES" sz="2300" b="0" u="none" strike="noStrike">
              <a:solidFill>
                <a:srgbClr val="000000"/>
              </a:solidFill>
              <a:effectLst/>
              <a:uFillTx/>
              <a:latin typeface="Arial"/>
            </a:endParaRPr>
          </a:p>
        </p:txBody>
      </p:sp>
      <p:sp>
        <p:nvSpPr>
          <p:cNvPr id="164" name="TextBox 18"/>
          <p:cNvSpPr/>
          <p:nvPr/>
        </p:nvSpPr>
        <p:spPr>
          <a:xfrm>
            <a:off x="8339400" y="2761560"/>
            <a:ext cx="3090240" cy="17917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Publicació i configuració de l’aplicació sobre la infraestructura.</a:t>
            </a:r>
            <a:endParaRPr lang="ca-ES" sz="2200" b="0" u="none" strike="noStrike">
              <a:solidFill>
                <a:srgbClr val="000000"/>
              </a:solidFill>
              <a:effectLst/>
              <a:uFillTx/>
              <a:latin typeface="Arial"/>
            </a:endParaRPr>
          </a:p>
        </p:txBody>
      </p:sp>
      <p:sp>
        <p:nvSpPr>
          <p:cNvPr id="165" name="TextBox 19"/>
          <p:cNvSpPr/>
          <p:nvPr/>
        </p:nvSpPr>
        <p:spPr>
          <a:xfrm>
            <a:off x="594360" y="4983480"/>
            <a:ext cx="10972440" cy="10054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0" u="none" strike="noStrike">
                <a:solidFill>
                  <a:srgbClr val="202124"/>
                </a:solidFill>
                <a:effectLst/>
                <a:uFillTx/>
                <a:latin typeface="Arial"/>
              </a:rPr>
              <a:t>Sistemes informàtics aporta la base d’entorn i xarxa.</a:t>
            </a:r>
            <a:endParaRPr lang="ca-ES" sz="2300" b="0" u="none" strike="noStrike">
              <a:solidFill>
                <a:srgbClr val="000000"/>
              </a:solidFill>
              <a:effectLst/>
              <a:uFillTx/>
              <a:latin typeface="Arial"/>
            </a:endParaRPr>
          </a:p>
          <a:p>
            <a:pPr defTabSz="457200">
              <a:lnSpc>
                <a:spcPct val="100000"/>
              </a:lnSpc>
              <a:spcAft>
                <a:spcPts val="601"/>
              </a:spcAft>
            </a:pPr>
            <a:r>
              <a:rPr lang="en-US" sz="2300" b="0" u="none" strike="noStrike">
                <a:solidFill>
                  <a:srgbClr val="202124"/>
                </a:solidFill>
                <a:effectLst/>
                <a:uFillTx/>
                <a:latin typeface="Arial"/>
              </a:rPr>
              <a:t>El projecte intermodular permet combinar aquests aprenentatges.</a:t>
            </a:r>
            <a:endParaRPr lang="ca-ES"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67"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03 · DESENVOLUPAMENT DEL MÒDUL</a:t>
            </a:r>
            <a:endParaRPr lang="ca-ES" sz="1100" b="0" u="none" strike="noStrike">
              <a:solidFill>
                <a:srgbClr val="000000"/>
              </a:solidFill>
              <a:effectLst/>
              <a:uFillTx/>
              <a:latin typeface="Arial"/>
            </a:endParaRPr>
          </a:p>
        </p:txBody>
      </p:sp>
      <p:sp>
        <p:nvSpPr>
          <p:cNvPr id="168"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Com treballarem: programarem junts</a:t>
            </a:r>
            <a:endParaRPr lang="ca-ES" sz="3200" b="0" u="none" strike="noStrike">
              <a:solidFill>
                <a:srgbClr val="000000"/>
              </a:solidFill>
              <a:effectLst/>
              <a:uFillTx/>
              <a:latin typeface="Arial"/>
            </a:endParaRPr>
          </a:p>
        </p:txBody>
      </p:sp>
      <p:sp>
        <p:nvSpPr>
          <p:cNvPr id="169"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70"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171"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06</a:t>
            </a:r>
            <a:endParaRPr lang="ca-ES" sz="1100" b="0" u="none" strike="noStrike">
              <a:solidFill>
                <a:srgbClr val="000000"/>
              </a:solidFill>
              <a:effectLst/>
              <a:uFillTx/>
              <a:latin typeface="Arial"/>
            </a:endParaRPr>
          </a:p>
        </p:txBody>
      </p:sp>
      <p:sp>
        <p:nvSpPr>
          <p:cNvPr id="172" name="Rectangle 7"/>
          <p:cNvSpPr/>
          <p:nvPr/>
        </p:nvSpPr>
        <p:spPr>
          <a:xfrm>
            <a:off x="548640" y="1828800"/>
            <a:ext cx="3529080" cy="347436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3" name="Rectangle 8"/>
          <p:cNvSpPr/>
          <p:nvPr/>
        </p:nvSpPr>
        <p:spPr>
          <a:xfrm>
            <a:off x="548640" y="1828800"/>
            <a:ext cx="40680" cy="347436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 name="TextBox 9"/>
          <p:cNvSpPr/>
          <p:nvPr/>
        </p:nvSpPr>
        <p:spPr>
          <a:xfrm>
            <a:off x="768240" y="1965960"/>
            <a:ext cx="30902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01</a:t>
            </a:r>
            <a:endParaRPr lang="ca-ES" sz="2800" b="0" u="none" strike="noStrike">
              <a:solidFill>
                <a:srgbClr val="000000"/>
              </a:solidFill>
              <a:effectLst/>
              <a:uFillTx/>
              <a:latin typeface="Arial"/>
            </a:endParaRPr>
          </a:p>
        </p:txBody>
      </p:sp>
      <p:sp>
        <p:nvSpPr>
          <p:cNvPr id="175" name="TextBox 10"/>
          <p:cNvSpPr/>
          <p:nvPr/>
        </p:nvSpPr>
        <p:spPr>
          <a:xfrm>
            <a:off x="768240" y="253296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Preparació</a:t>
            </a:r>
            <a:endParaRPr lang="ca-ES" sz="2300" b="0" u="none" strike="noStrike">
              <a:solidFill>
                <a:srgbClr val="000000"/>
              </a:solidFill>
              <a:effectLst/>
              <a:uFillTx/>
              <a:latin typeface="Arial"/>
            </a:endParaRPr>
          </a:p>
        </p:txBody>
      </p:sp>
      <p:sp>
        <p:nvSpPr>
          <p:cNvPr id="176" name="TextBox 11"/>
          <p:cNvSpPr/>
          <p:nvPr/>
        </p:nvSpPr>
        <p:spPr>
          <a:xfrm>
            <a:off x="768240" y="3291840"/>
            <a:ext cx="3090240" cy="1947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El professor prepara el projecte Spring amb les classes resoltes.</a:t>
            </a:r>
            <a:endParaRPr lang="ca-ES" sz="2200" b="0" u="none" strike="noStrike">
              <a:solidFill>
                <a:srgbClr val="000000"/>
              </a:solidFill>
              <a:effectLst/>
              <a:uFillTx/>
              <a:latin typeface="Arial"/>
            </a:endParaRPr>
          </a:p>
        </p:txBody>
      </p:sp>
      <p:sp>
        <p:nvSpPr>
          <p:cNvPr id="177" name="Rectangle 12"/>
          <p:cNvSpPr/>
          <p:nvPr/>
        </p:nvSpPr>
        <p:spPr>
          <a:xfrm>
            <a:off x="4334400" y="1828800"/>
            <a:ext cx="3529080" cy="347436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8" name="Rectangle 13"/>
          <p:cNvSpPr/>
          <p:nvPr/>
        </p:nvSpPr>
        <p:spPr>
          <a:xfrm>
            <a:off x="4334400" y="1828800"/>
            <a:ext cx="40680" cy="347436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9" name="TextBox 14"/>
          <p:cNvSpPr/>
          <p:nvPr/>
        </p:nvSpPr>
        <p:spPr>
          <a:xfrm>
            <a:off x="4553640" y="1965960"/>
            <a:ext cx="30902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02</a:t>
            </a:r>
            <a:endParaRPr lang="ca-ES" sz="2800" b="0" u="none" strike="noStrike">
              <a:solidFill>
                <a:srgbClr val="000000"/>
              </a:solidFill>
              <a:effectLst/>
              <a:uFillTx/>
              <a:latin typeface="Arial"/>
            </a:endParaRPr>
          </a:p>
        </p:txBody>
      </p:sp>
      <p:sp>
        <p:nvSpPr>
          <p:cNvPr id="180" name="TextBox 15"/>
          <p:cNvSpPr/>
          <p:nvPr/>
        </p:nvSpPr>
        <p:spPr>
          <a:xfrm>
            <a:off x="4553640" y="253296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Code along</a:t>
            </a:r>
            <a:endParaRPr lang="ca-ES" sz="2300" b="0" u="none" strike="noStrike">
              <a:solidFill>
                <a:srgbClr val="000000"/>
              </a:solidFill>
              <a:effectLst/>
              <a:uFillTx/>
              <a:latin typeface="Arial"/>
            </a:endParaRPr>
          </a:p>
        </p:txBody>
      </p:sp>
      <p:sp>
        <p:nvSpPr>
          <p:cNvPr id="181" name="TextBox 16"/>
          <p:cNvSpPr/>
          <p:nvPr/>
        </p:nvSpPr>
        <p:spPr>
          <a:xfrm>
            <a:off x="4553640" y="3291840"/>
            <a:ext cx="3090240" cy="1947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Construïm el codi a classe i ens aturam per explicar els conceptes.</a:t>
            </a:r>
            <a:endParaRPr lang="ca-ES" sz="2200" b="0" u="none" strike="noStrike">
              <a:solidFill>
                <a:srgbClr val="000000"/>
              </a:solidFill>
              <a:effectLst/>
              <a:uFillTx/>
              <a:latin typeface="Arial"/>
            </a:endParaRPr>
          </a:p>
        </p:txBody>
      </p:sp>
      <p:sp>
        <p:nvSpPr>
          <p:cNvPr id="182" name="Rectangle 17"/>
          <p:cNvSpPr/>
          <p:nvPr/>
        </p:nvSpPr>
        <p:spPr>
          <a:xfrm>
            <a:off x="8119800" y="1828800"/>
            <a:ext cx="3529080" cy="347436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3" name="Rectangle 18"/>
          <p:cNvSpPr/>
          <p:nvPr/>
        </p:nvSpPr>
        <p:spPr>
          <a:xfrm>
            <a:off x="8119800" y="1828800"/>
            <a:ext cx="40680" cy="347436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TextBox 19"/>
          <p:cNvSpPr/>
          <p:nvPr/>
        </p:nvSpPr>
        <p:spPr>
          <a:xfrm>
            <a:off x="8339400" y="1965960"/>
            <a:ext cx="30902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03</a:t>
            </a:r>
            <a:endParaRPr lang="ca-ES" sz="2800" b="0" u="none" strike="noStrike">
              <a:solidFill>
                <a:srgbClr val="000000"/>
              </a:solidFill>
              <a:effectLst/>
              <a:uFillTx/>
              <a:latin typeface="Arial"/>
            </a:endParaRPr>
          </a:p>
        </p:txBody>
      </p:sp>
      <p:sp>
        <p:nvSpPr>
          <p:cNvPr id="185" name="TextBox 20"/>
          <p:cNvSpPr/>
          <p:nvPr/>
        </p:nvSpPr>
        <p:spPr>
          <a:xfrm>
            <a:off x="8339400" y="253296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Pràctica</a:t>
            </a:r>
            <a:endParaRPr lang="ca-ES" sz="2300" b="0" u="none" strike="noStrike">
              <a:solidFill>
                <a:srgbClr val="000000"/>
              </a:solidFill>
              <a:effectLst/>
              <a:uFillTx/>
              <a:latin typeface="Arial"/>
            </a:endParaRPr>
          </a:p>
        </p:txBody>
      </p:sp>
      <p:sp>
        <p:nvSpPr>
          <p:cNvPr id="186" name="TextBox 21"/>
          <p:cNvSpPr/>
          <p:nvPr/>
        </p:nvSpPr>
        <p:spPr>
          <a:xfrm>
            <a:off x="8339400" y="3291840"/>
            <a:ext cx="3090240" cy="1947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Aplicau i repetiu el que hem treballat per preparar l’examen.</a:t>
            </a:r>
            <a:endParaRPr lang="ca-ES" sz="2200" b="0" u="none" strike="noStrike">
              <a:solidFill>
                <a:srgbClr val="000000"/>
              </a:solidFill>
              <a:effectLst/>
              <a:uFillTx/>
              <a:latin typeface="Arial"/>
            </a:endParaRPr>
          </a:p>
        </p:txBody>
      </p:sp>
      <p:sp>
        <p:nvSpPr>
          <p:cNvPr id="187" name="Rectangle 22"/>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8" name="TextBox 23"/>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Aquest mètode es manté a totes les unitats.</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0"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03 · DESENVOLUPAMENT DEL MÒDUL</a:t>
            </a:r>
            <a:endParaRPr lang="ca-ES" sz="1100" b="0" u="none" strike="noStrike">
              <a:solidFill>
                <a:srgbClr val="000000"/>
              </a:solidFill>
              <a:effectLst/>
              <a:uFillTx/>
              <a:latin typeface="Arial"/>
            </a:endParaRPr>
          </a:p>
        </p:txBody>
      </p:sp>
      <p:sp>
        <p:nvSpPr>
          <p:cNvPr id="191"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Quatre unitats, un recorregut</a:t>
            </a:r>
            <a:endParaRPr lang="ca-ES" sz="3200" b="0" u="none" strike="noStrike">
              <a:solidFill>
                <a:srgbClr val="000000"/>
              </a:solidFill>
              <a:effectLst/>
              <a:uFillTx/>
              <a:latin typeface="Arial"/>
            </a:endParaRPr>
          </a:p>
        </p:txBody>
      </p:sp>
      <p:sp>
        <p:nvSpPr>
          <p:cNvPr id="192"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193"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194"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07</a:t>
            </a:r>
            <a:endParaRPr lang="ca-ES" sz="1100" b="0" u="none" strike="noStrike">
              <a:solidFill>
                <a:srgbClr val="000000"/>
              </a:solidFill>
              <a:effectLst/>
              <a:uFillTx/>
              <a:latin typeface="Arial"/>
            </a:endParaRPr>
          </a:p>
        </p:txBody>
      </p:sp>
      <p:sp>
        <p:nvSpPr>
          <p:cNvPr id="195" name="Rectangle 7"/>
          <p:cNvSpPr/>
          <p:nvPr/>
        </p:nvSpPr>
        <p:spPr>
          <a:xfrm>
            <a:off x="548640" y="1783080"/>
            <a:ext cx="5394600" cy="184680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Rectangle 8"/>
          <p:cNvSpPr/>
          <p:nvPr/>
        </p:nvSpPr>
        <p:spPr>
          <a:xfrm>
            <a:off x="548640" y="1783080"/>
            <a:ext cx="40680" cy="18468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7" name="TextBox 9"/>
          <p:cNvSpPr/>
          <p:nvPr/>
        </p:nvSpPr>
        <p:spPr>
          <a:xfrm>
            <a:off x="768240" y="200268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U1 · Introducció al servidor</a:t>
            </a:r>
            <a:endParaRPr lang="ca-ES" sz="2300" b="0" u="none" strike="noStrike">
              <a:solidFill>
                <a:srgbClr val="000000"/>
              </a:solidFill>
              <a:effectLst/>
              <a:uFillTx/>
              <a:latin typeface="Arial"/>
            </a:endParaRPr>
          </a:p>
        </p:txBody>
      </p:sp>
      <p:sp>
        <p:nvSpPr>
          <p:cNvPr id="198" name="TextBox 10"/>
          <p:cNvSpPr/>
          <p:nvPr/>
        </p:nvSpPr>
        <p:spPr>
          <a:xfrm>
            <a:off x="768240" y="2761560"/>
            <a:ext cx="4955760" cy="804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Comprendre l’entorn i Spring.</a:t>
            </a:r>
            <a:endParaRPr lang="ca-ES" sz="2200" b="0" u="none" strike="noStrike">
              <a:solidFill>
                <a:srgbClr val="000000"/>
              </a:solidFill>
              <a:effectLst/>
              <a:uFillTx/>
              <a:latin typeface="Arial"/>
            </a:endParaRPr>
          </a:p>
        </p:txBody>
      </p:sp>
      <p:sp>
        <p:nvSpPr>
          <p:cNvPr id="199" name="Rectangle 11"/>
          <p:cNvSpPr/>
          <p:nvPr/>
        </p:nvSpPr>
        <p:spPr>
          <a:xfrm>
            <a:off x="6245280" y="1783080"/>
            <a:ext cx="5394600" cy="184680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0" name="Rectangle 12"/>
          <p:cNvSpPr/>
          <p:nvPr/>
        </p:nvSpPr>
        <p:spPr>
          <a:xfrm>
            <a:off x="6245280" y="1783080"/>
            <a:ext cx="40680" cy="18468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1" name="TextBox 13"/>
          <p:cNvSpPr/>
          <p:nvPr/>
        </p:nvSpPr>
        <p:spPr>
          <a:xfrm>
            <a:off x="6464880" y="200268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U2 · Accés a dades</a:t>
            </a:r>
            <a:endParaRPr lang="ca-ES" sz="2300" b="0" u="none" strike="noStrike">
              <a:solidFill>
                <a:srgbClr val="000000"/>
              </a:solidFill>
              <a:effectLst/>
              <a:uFillTx/>
              <a:latin typeface="Arial"/>
            </a:endParaRPr>
          </a:p>
        </p:txBody>
      </p:sp>
      <p:sp>
        <p:nvSpPr>
          <p:cNvPr id="202" name="TextBox 14"/>
          <p:cNvSpPr/>
          <p:nvPr/>
        </p:nvSpPr>
        <p:spPr>
          <a:xfrm>
            <a:off x="6464880" y="2761560"/>
            <a:ext cx="4955760" cy="804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Connectar l’aplicació amb les dades.</a:t>
            </a:r>
            <a:endParaRPr lang="ca-ES" sz="2200" b="0" u="none" strike="noStrike">
              <a:solidFill>
                <a:srgbClr val="000000"/>
              </a:solidFill>
              <a:effectLst/>
              <a:uFillTx/>
              <a:latin typeface="Arial"/>
            </a:endParaRPr>
          </a:p>
        </p:txBody>
      </p:sp>
      <p:sp>
        <p:nvSpPr>
          <p:cNvPr id="203" name="Rectangle 15"/>
          <p:cNvSpPr/>
          <p:nvPr/>
        </p:nvSpPr>
        <p:spPr>
          <a:xfrm>
            <a:off x="548640" y="3840480"/>
            <a:ext cx="5394600" cy="184680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4" name="Rectangle 16"/>
          <p:cNvSpPr/>
          <p:nvPr/>
        </p:nvSpPr>
        <p:spPr>
          <a:xfrm>
            <a:off x="548640" y="3840480"/>
            <a:ext cx="40680" cy="18468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5" name="TextBox 17"/>
          <p:cNvSpPr/>
          <p:nvPr/>
        </p:nvSpPr>
        <p:spPr>
          <a:xfrm>
            <a:off x="768240" y="406008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U3 · Serveis web</a:t>
            </a:r>
            <a:endParaRPr lang="ca-ES" sz="2300" b="0" u="none" strike="noStrike">
              <a:solidFill>
                <a:srgbClr val="000000"/>
              </a:solidFill>
              <a:effectLst/>
              <a:uFillTx/>
              <a:latin typeface="Arial"/>
            </a:endParaRPr>
          </a:p>
        </p:txBody>
      </p:sp>
      <p:sp>
        <p:nvSpPr>
          <p:cNvPr id="206" name="TextBox 18"/>
          <p:cNvSpPr/>
          <p:nvPr/>
        </p:nvSpPr>
        <p:spPr>
          <a:xfrm>
            <a:off x="768240" y="4818960"/>
            <a:ext cx="4955760" cy="804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Exposar i consumir funcionalitats.</a:t>
            </a:r>
            <a:endParaRPr lang="ca-ES" sz="2200" b="0" u="none" strike="noStrike">
              <a:solidFill>
                <a:srgbClr val="000000"/>
              </a:solidFill>
              <a:effectLst/>
              <a:uFillTx/>
              <a:latin typeface="Arial"/>
            </a:endParaRPr>
          </a:p>
        </p:txBody>
      </p:sp>
      <p:sp>
        <p:nvSpPr>
          <p:cNvPr id="207" name="Rectangle 19"/>
          <p:cNvSpPr/>
          <p:nvPr/>
        </p:nvSpPr>
        <p:spPr>
          <a:xfrm>
            <a:off x="6245280" y="3840480"/>
            <a:ext cx="5394600" cy="184680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8" name="Rectangle 20"/>
          <p:cNvSpPr/>
          <p:nvPr/>
        </p:nvSpPr>
        <p:spPr>
          <a:xfrm>
            <a:off x="6245280" y="3840480"/>
            <a:ext cx="40680" cy="18468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9" name="TextBox 21"/>
          <p:cNvSpPr/>
          <p:nvPr/>
        </p:nvSpPr>
        <p:spPr>
          <a:xfrm>
            <a:off x="6464880" y="406008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U4 · Aplicacions web</a:t>
            </a:r>
            <a:endParaRPr lang="ca-ES" sz="2300" b="0" u="none" strike="noStrike">
              <a:solidFill>
                <a:srgbClr val="000000"/>
              </a:solidFill>
              <a:effectLst/>
              <a:uFillTx/>
              <a:latin typeface="Arial"/>
            </a:endParaRPr>
          </a:p>
        </p:txBody>
      </p:sp>
      <p:sp>
        <p:nvSpPr>
          <p:cNvPr id="210" name="TextBox 22"/>
          <p:cNvSpPr/>
          <p:nvPr/>
        </p:nvSpPr>
        <p:spPr>
          <a:xfrm>
            <a:off x="6464880" y="4818960"/>
            <a:ext cx="4955760" cy="804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Integrar les peces en una aplicació.</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12"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03 · UNITATS I RESULTATS D’APRENENTATGE</a:t>
            </a:r>
            <a:endParaRPr lang="ca-ES" sz="1100" b="0" u="none" strike="noStrike">
              <a:solidFill>
                <a:srgbClr val="000000"/>
              </a:solidFill>
              <a:effectLst/>
              <a:uFillTx/>
              <a:latin typeface="Arial"/>
            </a:endParaRPr>
          </a:p>
        </p:txBody>
      </p:sp>
      <p:sp>
        <p:nvSpPr>
          <p:cNvPr id="213"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U1 · Introducció a la programació</a:t>
            </a:r>
            <a:endParaRPr lang="ca-ES" sz="3200" b="0" u="none" strike="noStrike">
              <a:solidFill>
                <a:srgbClr val="000000"/>
              </a:solidFill>
              <a:effectLst/>
              <a:uFillTx/>
              <a:latin typeface="Arial"/>
            </a:endParaRPr>
          </a:p>
          <a:p>
            <a:pPr defTabSz="457200">
              <a:lnSpc>
                <a:spcPct val="100000"/>
              </a:lnSpc>
              <a:spcAft>
                <a:spcPts val="601"/>
              </a:spcAft>
            </a:pPr>
            <a:r>
              <a:rPr lang="en-US" sz="3200" b="1" u="none" strike="noStrike">
                <a:solidFill>
                  <a:srgbClr val="175F16"/>
                </a:solidFill>
                <a:effectLst/>
                <a:uFillTx/>
                <a:latin typeface="Arial"/>
              </a:rPr>
              <a:t>en entorn servidor</a:t>
            </a:r>
            <a:endParaRPr lang="ca-ES" sz="3200" b="0" u="none" strike="noStrike">
              <a:solidFill>
                <a:srgbClr val="000000"/>
              </a:solidFill>
              <a:effectLst/>
              <a:uFillTx/>
              <a:latin typeface="Arial"/>
            </a:endParaRPr>
          </a:p>
        </p:txBody>
      </p:sp>
      <p:sp>
        <p:nvSpPr>
          <p:cNvPr id="214"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215"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216"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08</a:t>
            </a:r>
            <a:endParaRPr lang="ca-ES" sz="1100" b="0" u="none" strike="noStrike">
              <a:solidFill>
                <a:srgbClr val="000000"/>
              </a:solidFill>
              <a:effectLst/>
              <a:uFillTx/>
              <a:latin typeface="Arial"/>
            </a:endParaRPr>
          </a:p>
        </p:txBody>
      </p:sp>
      <p:sp>
        <p:nvSpPr>
          <p:cNvPr id="217" name="TextBox 7"/>
          <p:cNvSpPr/>
          <p:nvPr/>
        </p:nvSpPr>
        <p:spPr>
          <a:xfrm>
            <a:off x="548640" y="1856160"/>
            <a:ext cx="10972440" cy="11426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500" b="0" u="none" strike="noStrike">
                <a:solidFill>
                  <a:srgbClr val="202124"/>
                </a:solidFill>
                <a:effectLst/>
                <a:uFillTx/>
                <a:latin typeface="Arial"/>
              </a:rPr>
              <a:t>Entendrem l’entorn servidor i com Spring crea i connecta els objectes: IoC, injecció de dependències i beans.</a:t>
            </a:r>
            <a:endParaRPr lang="ca-ES" sz="2500" b="0" u="none" strike="noStrike">
              <a:solidFill>
                <a:srgbClr val="000000"/>
              </a:solidFill>
              <a:effectLst/>
              <a:uFillTx/>
              <a:latin typeface="Arial"/>
            </a:endParaRPr>
          </a:p>
        </p:txBody>
      </p:sp>
      <p:sp>
        <p:nvSpPr>
          <p:cNvPr id="218" name="TextBox 8"/>
          <p:cNvSpPr/>
          <p:nvPr/>
        </p:nvSpPr>
        <p:spPr>
          <a:xfrm>
            <a:off x="548640" y="3383280"/>
            <a:ext cx="8229240" cy="2739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200" b="1" u="none" strike="noStrike">
                <a:solidFill>
                  <a:srgbClr val="175F16"/>
                </a:solidFill>
                <a:effectLst/>
                <a:uFillTx/>
                <a:latin typeface="Arial"/>
              </a:rPr>
              <a:t>RESULTAT D’APRENENTATGE</a:t>
            </a:r>
            <a:endParaRPr lang="ca-ES" sz="1200" b="0" u="none" strike="noStrike">
              <a:solidFill>
                <a:srgbClr val="000000"/>
              </a:solidFill>
              <a:effectLst/>
              <a:uFillTx/>
              <a:latin typeface="Arial"/>
            </a:endParaRPr>
          </a:p>
        </p:txBody>
      </p:sp>
      <p:sp>
        <p:nvSpPr>
          <p:cNvPr id="219" name="TextBox 9"/>
          <p:cNvSpPr/>
          <p:nvPr/>
        </p:nvSpPr>
        <p:spPr>
          <a:xfrm>
            <a:off x="9784080" y="3383280"/>
            <a:ext cx="1828440" cy="27396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200" b="1" u="none" strike="noStrike">
                <a:solidFill>
                  <a:srgbClr val="175F16"/>
                </a:solidFill>
                <a:effectLst/>
                <a:uFillTx/>
                <a:latin typeface="Arial"/>
              </a:rPr>
              <a:t>PES GLOBAL</a:t>
            </a:r>
            <a:endParaRPr lang="ca-ES" sz="1200" b="0" u="none" strike="noStrike">
              <a:solidFill>
                <a:srgbClr val="000000"/>
              </a:solidFill>
              <a:effectLst/>
              <a:uFillTx/>
              <a:latin typeface="Arial"/>
            </a:endParaRPr>
          </a:p>
        </p:txBody>
      </p:sp>
      <p:sp>
        <p:nvSpPr>
          <p:cNvPr id="220" name="Rectangle 10"/>
          <p:cNvSpPr/>
          <p:nvPr/>
        </p:nvSpPr>
        <p:spPr>
          <a:xfrm>
            <a:off x="530280" y="3749040"/>
            <a:ext cx="11127960" cy="13528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1" name="TextBox 11"/>
          <p:cNvSpPr/>
          <p:nvPr/>
        </p:nvSpPr>
        <p:spPr>
          <a:xfrm>
            <a:off x="731520" y="3895200"/>
            <a:ext cx="91404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175F16"/>
                </a:solidFill>
                <a:effectLst/>
                <a:uFillTx/>
                <a:latin typeface="Arial"/>
              </a:rPr>
              <a:t>RA1</a:t>
            </a:r>
            <a:endParaRPr lang="ca-ES" sz="2200" b="0" u="none" strike="noStrike">
              <a:solidFill>
                <a:srgbClr val="000000"/>
              </a:solidFill>
              <a:effectLst/>
              <a:uFillTx/>
              <a:latin typeface="Arial"/>
            </a:endParaRPr>
          </a:p>
        </p:txBody>
      </p:sp>
      <p:sp>
        <p:nvSpPr>
          <p:cNvPr id="222" name="TextBox 12"/>
          <p:cNvSpPr/>
          <p:nvPr/>
        </p:nvSpPr>
        <p:spPr>
          <a:xfrm>
            <a:off x="1783080" y="3858840"/>
            <a:ext cx="8183520" cy="12067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0" u="none" strike="noStrike">
                <a:solidFill>
                  <a:srgbClr val="202124"/>
                </a:solidFill>
                <a:effectLst/>
                <a:uFillTx/>
                <a:latin typeface="Arial"/>
              </a:rPr>
              <a:t>Selecciona les arquitectures i tecnologies de programació Web en entorn servidor, analitzant les seves capacitats i característiques pròpies</a:t>
            </a:r>
            <a:endParaRPr lang="ca-ES" sz="2300" b="0" u="none" strike="noStrike">
              <a:solidFill>
                <a:srgbClr val="000000"/>
              </a:solidFill>
              <a:effectLst/>
              <a:uFillTx/>
              <a:latin typeface="Arial"/>
            </a:endParaRPr>
          </a:p>
        </p:txBody>
      </p:sp>
      <p:sp>
        <p:nvSpPr>
          <p:cNvPr id="223" name="TextBox 13"/>
          <p:cNvSpPr/>
          <p:nvPr/>
        </p:nvSpPr>
        <p:spPr>
          <a:xfrm>
            <a:off x="10424160" y="3886200"/>
            <a:ext cx="959760" cy="45684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2600" b="1" u="none" strike="noStrike">
                <a:solidFill>
                  <a:srgbClr val="175F16"/>
                </a:solidFill>
                <a:effectLst/>
                <a:uFillTx/>
                <a:latin typeface="Arial"/>
              </a:rPr>
              <a:t>5%</a:t>
            </a:r>
            <a:endParaRPr lang="ca-ES" sz="2600" b="0" u="none" strike="noStrike">
              <a:solidFill>
                <a:srgbClr val="000000"/>
              </a:solidFill>
              <a:effectLst/>
              <a:uFillTx/>
              <a:latin typeface="Arial"/>
            </a:endParaRPr>
          </a:p>
        </p:txBody>
      </p:sp>
      <p:sp>
        <p:nvSpPr>
          <p:cNvPr id="224" name="Rectangle 14"/>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5" name="TextBox 15"/>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Durada · 20 hores</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27"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03 · UNITATS I RESULTATS D’APRENENTATGE</a:t>
            </a:r>
            <a:endParaRPr lang="ca-ES" sz="1100" b="0" u="none" strike="noStrike">
              <a:solidFill>
                <a:srgbClr val="000000"/>
              </a:solidFill>
              <a:effectLst/>
              <a:uFillTx/>
              <a:latin typeface="Arial"/>
            </a:endParaRPr>
          </a:p>
        </p:txBody>
      </p:sp>
      <p:sp>
        <p:nvSpPr>
          <p:cNvPr id="228"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U2 · Accés a dades</a:t>
            </a:r>
            <a:endParaRPr lang="ca-ES" sz="3200" b="0" u="none" strike="noStrike">
              <a:solidFill>
                <a:srgbClr val="000000"/>
              </a:solidFill>
              <a:effectLst/>
              <a:uFillTx/>
              <a:latin typeface="Arial"/>
            </a:endParaRPr>
          </a:p>
        </p:txBody>
      </p:sp>
      <p:sp>
        <p:nvSpPr>
          <p:cNvPr id="229"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230"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231"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09</a:t>
            </a:r>
            <a:endParaRPr lang="ca-ES" sz="1100" b="0" u="none" strike="noStrike">
              <a:solidFill>
                <a:srgbClr val="000000"/>
              </a:solidFill>
              <a:effectLst/>
              <a:uFillTx/>
              <a:latin typeface="Arial"/>
            </a:endParaRPr>
          </a:p>
        </p:txBody>
      </p:sp>
      <p:sp>
        <p:nvSpPr>
          <p:cNvPr id="232" name="TextBox 7"/>
          <p:cNvSpPr/>
          <p:nvPr/>
        </p:nvSpPr>
        <p:spPr>
          <a:xfrm>
            <a:off x="548640" y="1783080"/>
            <a:ext cx="10972440" cy="11426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500" b="0" u="none" strike="noStrike">
                <a:solidFill>
                  <a:srgbClr val="202124"/>
                </a:solidFill>
                <a:effectLst/>
                <a:uFillTx/>
                <a:latin typeface="Arial"/>
              </a:rPr>
              <a:t>Connectarem l’aplicació amb les dades: consultar, crear, modificar i eliminar informació amb repositoris i serveis.</a:t>
            </a:r>
            <a:endParaRPr lang="ca-ES" sz="2500" b="0" u="none" strike="noStrike">
              <a:solidFill>
                <a:srgbClr val="000000"/>
              </a:solidFill>
              <a:effectLst/>
              <a:uFillTx/>
              <a:latin typeface="Arial"/>
            </a:endParaRPr>
          </a:p>
        </p:txBody>
      </p:sp>
      <p:sp>
        <p:nvSpPr>
          <p:cNvPr id="233" name="TextBox 8"/>
          <p:cNvSpPr/>
          <p:nvPr/>
        </p:nvSpPr>
        <p:spPr>
          <a:xfrm>
            <a:off x="548640" y="3383280"/>
            <a:ext cx="8229240" cy="2739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200" b="1" u="none" strike="noStrike">
                <a:solidFill>
                  <a:srgbClr val="175F16"/>
                </a:solidFill>
                <a:effectLst/>
                <a:uFillTx/>
                <a:latin typeface="Arial"/>
              </a:rPr>
              <a:t>RESULTAT D’APRENENTATGE</a:t>
            </a:r>
            <a:endParaRPr lang="ca-ES" sz="1200" b="0" u="none" strike="noStrike">
              <a:solidFill>
                <a:srgbClr val="000000"/>
              </a:solidFill>
              <a:effectLst/>
              <a:uFillTx/>
              <a:latin typeface="Arial"/>
            </a:endParaRPr>
          </a:p>
        </p:txBody>
      </p:sp>
      <p:sp>
        <p:nvSpPr>
          <p:cNvPr id="234" name="TextBox 9"/>
          <p:cNvSpPr/>
          <p:nvPr/>
        </p:nvSpPr>
        <p:spPr>
          <a:xfrm>
            <a:off x="9784080" y="3383280"/>
            <a:ext cx="1828440" cy="27396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200" b="1" u="none" strike="noStrike">
                <a:solidFill>
                  <a:srgbClr val="175F16"/>
                </a:solidFill>
                <a:effectLst/>
                <a:uFillTx/>
                <a:latin typeface="Arial"/>
              </a:rPr>
              <a:t>PES GLOBAL</a:t>
            </a:r>
            <a:endParaRPr lang="ca-ES" sz="1200" b="0" u="none" strike="noStrike">
              <a:solidFill>
                <a:srgbClr val="000000"/>
              </a:solidFill>
              <a:effectLst/>
              <a:uFillTx/>
              <a:latin typeface="Arial"/>
            </a:endParaRPr>
          </a:p>
        </p:txBody>
      </p:sp>
      <p:sp>
        <p:nvSpPr>
          <p:cNvPr id="235" name="Rectangle 10"/>
          <p:cNvSpPr/>
          <p:nvPr/>
        </p:nvSpPr>
        <p:spPr>
          <a:xfrm>
            <a:off x="530280" y="3749040"/>
            <a:ext cx="11127960" cy="13528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6" name="TextBox 11"/>
          <p:cNvSpPr/>
          <p:nvPr/>
        </p:nvSpPr>
        <p:spPr>
          <a:xfrm>
            <a:off x="731520" y="3895200"/>
            <a:ext cx="91404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175F16"/>
                </a:solidFill>
                <a:effectLst/>
                <a:uFillTx/>
                <a:latin typeface="Arial"/>
              </a:rPr>
              <a:t>RA6</a:t>
            </a:r>
            <a:endParaRPr lang="ca-ES" sz="2200" b="0" u="none" strike="noStrike">
              <a:solidFill>
                <a:srgbClr val="000000"/>
              </a:solidFill>
              <a:effectLst/>
              <a:uFillTx/>
              <a:latin typeface="Arial"/>
            </a:endParaRPr>
          </a:p>
        </p:txBody>
      </p:sp>
      <p:sp>
        <p:nvSpPr>
          <p:cNvPr id="237" name="TextBox 12"/>
          <p:cNvSpPr/>
          <p:nvPr/>
        </p:nvSpPr>
        <p:spPr>
          <a:xfrm>
            <a:off x="1783080" y="3858840"/>
            <a:ext cx="8183520" cy="12067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0" u="none" strike="noStrike">
                <a:solidFill>
                  <a:srgbClr val="202124"/>
                </a:solidFill>
                <a:effectLst/>
                <a:uFillTx/>
                <a:latin typeface="Arial"/>
              </a:rPr>
              <a:t>Desenvolupa aplicacions d’accés a magatzems de dades, aplicant mesures per a mantenir la seguretat i la integritat de la informació.</a:t>
            </a:r>
            <a:endParaRPr lang="ca-ES" sz="2300" b="0" u="none" strike="noStrike">
              <a:solidFill>
                <a:srgbClr val="000000"/>
              </a:solidFill>
              <a:effectLst/>
              <a:uFillTx/>
              <a:latin typeface="Arial"/>
            </a:endParaRPr>
          </a:p>
        </p:txBody>
      </p:sp>
      <p:sp>
        <p:nvSpPr>
          <p:cNvPr id="238" name="TextBox 13"/>
          <p:cNvSpPr/>
          <p:nvPr/>
        </p:nvSpPr>
        <p:spPr>
          <a:xfrm>
            <a:off x="10424160" y="3886200"/>
            <a:ext cx="959760" cy="45684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2600" b="1" u="none" strike="noStrike">
                <a:solidFill>
                  <a:srgbClr val="175F16"/>
                </a:solidFill>
                <a:effectLst/>
                <a:uFillTx/>
                <a:latin typeface="Arial"/>
              </a:rPr>
              <a:t>20%</a:t>
            </a:r>
            <a:endParaRPr lang="ca-ES" sz="2600" b="0" u="none" strike="noStrike">
              <a:solidFill>
                <a:srgbClr val="000000"/>
              </a:solidFill>
              <a:effectLst/>
              <a:uFillTx/>
              <a:latin typeface="Arial"/>
            </a:endParaRPr>
          </a:p>
        </p:txBody>
      </p:sp>
      <p:sp>
        <p:nvSpPr>
          <p:cNvPr id="239" name="Rectangle 14"/>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0" name="TextBox 15"/>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Durada · 40 hores</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42"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03 · UNITATS I RESULTATS D’APRENENTATGE</a:t>
            </a:r>
            <a:endParaRPr lang="ca-ES" sz="1100" b="0" u="none" strike="noStrike">
              <a:solidFill>
                <a:srgbClr val="000000"/>
              </a:solidFill>
              <a:effectLst/>
              <a:uFillTx/>
              <a:latin typeface="Arial"/>
            </a:endParaRPr>
          </a:p>
        </p:txBody>
      </p:sp>
      <p:sp>
        <p:nvSpPr>
          <p:cNvPr id="243"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U3 · Serveis web</a:t>
            </a:r>
            <a:endParaRPr lang="ca-ES" sz="3200" b="0" u="none" strike="noStrike">
              <a:solidFill>
                <a:srgbClr val="000000"/>
              </a:solidFill>
              <a:effectLst/>
              <a:uFillTx/>
              <a:latin typeface="Arial"/>
            </a:endParaRPr>
          </a:p>
        </p:txBody>
      </p:sp>
      <p:sp>
        <p:nvSpPr>
          <p:cNvPr id="244"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245"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246"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10</a:t>
            </a:r>
            <a:endParaRPr lang="ca-ES" sz="1100" b="0" u="none" strike="noStrike">
              <a:solidFill>
                <a:srgbClr val="000000"/>
              </a:solidFill>
              <a:effectLst/>
              <a:uFillTx/>
              <a:latin typeface="Arial"/>
            </a:endParaRPr>
          </a:p>
        </p:txBody>
      </p:sp>
      <p:sp>
        <p:nvSpPr>
          <p:cNvPr id="247" name="TextBox 7"/>
          <p:cNvSpPr/>
          <p:nvPr/>
        </p:nvSpPr>
        <p:spPr>
          <a:xfrm>
            <a:off x="548640" y="1737360"/>
            <a:ext cx="1097244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500" b="0" u="none" strike="noStrike">
                <a:solidFill>
                  <a:srgbClr val="202124"/>
                </a:solidFill>
                <a:effectLst/>
                <a:uFillTx/>
                <a:latin typeface="Arial"/>
              </a:rPr>
              <a:t>Crearem i consumirem serveis web i reutilitzarem informació i components d’altres sistemes.</a:t>
            </a:r>
            <a:endParaRPr lang="ca-ES" sz="2500" b="0" u="none" strike="noStrike">
              <a:solidFill>
                <a:srgbClr val="000000"/>
              </a:solidFill>
              <a:effectLst/>
              <a:uFillTx/>
              <a:latin typeface="Arial"/>
            </a:endParaRPr>
          </a:p>
        </p:txBody>
      </p:sp>
      <p:sp>
        <p:nvSpPr>
          <p:cNvPr id="248" name="TextBox 8"/>
          <p:cNvSpPr/>
          <p:nvPr/>
        </p:nvSpPr>
        <p:spPr>
          <a:xfrm>
            <a:off x="548640" y="2834640"/>
            <a:ext cx="8229240" cy="2739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200" b="1" u="none" strike="noStrike">
                <a:solidFill>
                  <a:srgbClr val="175F16"/>
                </a:solidFill>
                <a:effectLst/>
                <a:uFillTx/>
                <a:latin typeface="Arial"/>
              </a:rPr>
              <a:t>RESULTATS D’APRENENTATGE</a:t>
            </a:r>
            <a:endParaRPr lang="ca-ES" sz="1200" b="0" u="none" strike="noStrike">
              <a:solidFill>
                <a:srgbClr val="000000"/>
              </a:solidFill>
              <a:effectLst/>
              <a:uFillTx/>
              <a:latin typeface="Arial"/>
            </a:endParaRPr>
          </a:p>
        </p:txBody>
      </p:sp>
      <p:sp>
        <p:nvSpPr>
          <p:cNvPr id="249" name="TextBox 9"/>
          <p:cNvSpPr/>
          <p:nvPr/>
        </p:nvSpPr>
        <p:spPr>
          <a:xfrm>
            <a:off x="9784080" y="2834640"/>
            <a:ext cx="1828440" cy="27396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200" b="1" u="none" strike="noStrike">
                <a:solidFill>
                  <a:srgbClr val="175F16"/>
                </a:solidFill>
                <a:effectLst/>
                <a:uFillTx/>
                <a:latin typeface="Arial"/>
              </a:rPr>
              <a:t>PES GLOBAL</a:t>
            </a:r>
            <a:endParaRPr lang="ca-ES" sz="1200" b="0" u="none" strike="noStrike">
              <a:solidFill>
                <a:srgbClr val="000000"/>
              </a:solidFill>
              <a:effectLst/>
              <a:uFillTx/>
              <a:latin typeface="Arial"/>
            </a:endParaRPr>
          </a:p>
        </p:txBody>
      </p:sp>
      <p:sp>
        <p:nvSpPr>
          <p:cNvPr id="250" name="Rectangle 10"/>
          <p:cNvSpPr/>
          <p:nvPr/>
        </p:nvSpPr>
        <p:spPr>
          <a:xfrm>
            <a:off x="530280" y="3200400"/>
            <a:ext cx="11127960" cy="10328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1" name="TextBox 11"/>
          <p:cNvSpPr/>
          <p:nvPr/>
        </p:nvSpPr>
        <p:spPr>
          <a:xfrm>
            <a:off x="731520" y="3346560"/>
            <a:ext cx="91404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175F16"/>
                </a:solidFill>
                <a:effectLst/>
                <a:uFillTx/>
                <a:latin typeface="Arial"/>
              </a:rPr>
              <a:t>RA7</a:t>
            </a:r>
            <a:endParaRPr lang="ca-ES" sz="2200" b="0" u="none" strike="noStrike">
              <a:solidFill>
                <a:srgbClr val="000000"/>
              </a:solidFill>
              <a:effectLst/>
              <a:uFillTx/>
              <a:latin typeface="Arial"/>
            </a:endParaRPr>
          </a:p>
        </p:txBody>
      </p:sp>
      <p:sp>
        <p:nvSpPr>
          <p:cNvPr id="252" name="TextBox 12"/>
          <p:cNvSpPr/>
          <p:nvPr/>
        </p:nvSpPr>
        <p:spPr>
          <a:xfrm>
            <a:off x="1783080" y="3310200"/>
            <a:ext cx="8183520" cy="8866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Desenvolupa serveis Web reutilitzables i accessibles mitjançant protocols web, verificant el seu funcionament.</a:t>
            </a:r>
            <a:endParaRPr lang="ca-ES" sz="2200" b="0" u="none" strike="noStrike">
              <a:solidFill>
                <a:srgbClr val="000000"/>
              </a:solidFill>
              <a:effectLst/>
              <a:uFillTx/>
              <a:latin typeface="Arial"/>
            </a:endParaRPr>
          </a:p>
        </p:txBody>
      </p:sp>
      <p:sp>
        <p:nvSpPr>
          <p:cNvPr id="253" name="TextBox 13"/>
          <p:cNvSpPr/>
          <p:nvPr/>
        </p:nvSpPr>
        <p:spPr>
          <a:xfrm>
            <a:off x="10424160" y="3337560"/>
            <a:ext cx="959760" cy="45684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2600" b="1" u="none" strike="noStrike">
                <a:solidFill>
                  <a:srgbClr val="175F16"/>
                </a:solidFill>
                <a:effectLst/>
                <a:uFillTx/>
                <a:latin typeface="Arial"/>
              </a:rPr>
              <a:t>20%</a:t>
            </a:r>
            <a:endParaRPr lang="ca-ES" sz="2600" b="0" u="none" strike="noStrike">
              <a:solidFill>
                <a:srgbClr val="000000"/>
              </a:solidFill>
              <a:effectLst/>
              <a:uFillTx/>
              <a:latin typeface="Arial"/>
            </a:endParaRPr>
          </a:p>
        </p:txBody>
      </p:sp>
      <p:sp>
        <p:nvSpPr>
          <p:cNvPr id="254" name="Rectangle 14"/>
          <p:cNvSpPr/>
          <p:nvPr/>
        </p:nvSpPr>
        <p:spPr>
          <a:xfrm>
            <a:off x="530280" y="4370760"/>
            <a:ext cx="11127960" cy="10328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5" name="TextBox 15"/>
          <p:cNvSpPr/>
          <p:nvPr/>
        </p:nvSpPr>
        <p:spPr>
          <a:xfrm>
            <a:off x="731520" y="4517280"/>
            <a:ext cx="91404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175F16"/>
                </a:solidFill>
                <a:effectLst/>
                <a:uFillTx/>
                <a:latin typeface="Arial"/>
              </a:rPr>
              <a:t>RA9</a:t>
            </a:r>
            <a:endParaRPr lang="ca-ES" sz="2200" b="0" u="none" strike="noStrike">
              <a:solidFill>
                <a:srgbClr val="000000"/>
              </a:solidFill>
              <a:effectLst/>
              <a:uFillTx/>
              <a:latin typeface="Arial"/>
            </a:endParaRPr>
          </a:p>
        </p:txBody>
      </p:sp>
      <p:sp>
        <p:nvSpPr>
          <p:cNvPr id="256" name="TextBox 16"/>
          <p:cNvSpPr/>
          <p:nvPr/>
        </p:nvSpPr>
        <p:spPr>
          <a:xfrm>
            <a:off x="1783080" y="4480560"/>
            <a:ext cx="8183520" cy="8866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Desenvolupa aplicacions Web híbrides seleccionant i utilitzant llibreries de codi i repositoris heterogenis de informació</a:t>
            </a:r>
            <a:endParaRPr lang="ca-ES" sz="2200" b="0" u="none" strike="noStrike">
              <a:solidFill>
                <a:srgbClr val="000000"/>
              </a:solidFill>
              <a:effectLst/>
              <a:uFillTx/>
              <a:latin typeface="Arial"/>
            </a:endParaRPr>
          </a:p>
        </p:txBody>
      </p:sp>
      <p:sp>
        <p:nvSpPr>
          <p:cNvPr id="257" name="TextBox 17"/>
          <p:cNvSpPr/>
          <p:nvPr/>
        </p:nvSpPr>
        <p:spPr>
          <a:xfrm>
            <a:off x="10424160" y="4507920"/>
            <a:ext cx="959760" cy="45684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2600" b="1" u="none" strike="noStrike">
                <a:solidFill>
                  <a:srgbClr val="175F16"/>
                </a:solidFill>
                <a:effectLst/>
                <a:uFillTx/>
                <a:latin typeface="Arial"/>
              </a:rPr>
              <a:t>5%</a:t>
            </a:r>
            <a:endParaRPr lang="ca-ES" sz="2600" b="0" u="none" strike="noStrike">
              <a:solidFill>
                <a:srgbClr val="000000"/>
              </a:solidFill>
              <a:effectLst/>
              <a:uFillTx/>
              <a:latin typeface="Arial"/>
            </a:endParaRPr>
          </a:p>
        </p:txBody>
      </p:sp>
      <p:sp>
        <p:nvSpPr>
          <p:cNvPr id="258" name="Rectangle 18"/>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9" name="TextBox 19"/>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Durada · 50 hores</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61"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03 · UNITATS I RESULTATS D’APRENENTATGE · 1/2</a:t>
            </a:r>
            <a:endParaRPr lang="ca-ES" sz="1100" b="0" u="none" strike="noStrike">
              <a:solidFill>
                <a:srgbClr val="000000"/>
              </a:solidFill>
              <a:effectLst/>
              <a:uFillTx/>
              <a:latin typeface="Arial"/>
            </a:endParaRPr>
          </a:p>
        </p:txBody>
      </p:sp>
      <p:sp>
        <p:nvSpPr>
          <p:cNvPr id="262"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U4 · Aplicacions web</a:t>
            </a:r>
            <a:endParaRPr lang="ca-ES" sz="3200" b="0" u="none" strike="noStrike">
              <a:solidFill>
                <a:srgbClr val="000000"/>
              </a:solidFill>
              <a:effectLst/>
              <a:uFillTx/>
              <a:latin typeface="Arial"/>
            </a:endParaRPr>
          </a:p>
        </p:txBody>
      </p:sp>
      <p:sp>
        <p:nvSpPr>
          <p:cNvPr id="263"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264"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265"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11</a:t>
            </a:r>
            <a:endParaRPr lang="ca-ES" sz="1100" b="0" u="none" strike="noStrike">
              <a:solidFill>
                <a:srgbClr val="000000"/>
              </a:solidFill>
              <a:effectLst/>
              <a:uFillTx/>
              <a:latin typeface="Arial"/>
            </a:endParaRPr>
          </a:p>
        </p:txBody>
      </p:sp>
      <p:sp>
        <p:nvSpPr>
          <p:cNvPr id="266" name="TextBox 7"/>
          <p:cNvSpPr/>
          <p:nvPr/>
        </p:nvSpPr>
        <p:spPr>
          <a:xfrm>
            <a:off x="548640" y="1737360"/>
            <a:ext cx="10972440" cy="10512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500" b="0" u="none" strike="noStrike">
                <a:solidFill>
                  <a:srgbClr val="202124"/>
                </a:solidFill>
                <a:effectLst/>
                <a:uFillTx/>
                <a:latin typeface="Arial"/>
              </a:rPr>
              <a:t>Integrarem pàgines dinàmiques, formularis, estat, autenticació i interacció client-servidor amb una arquitectura per capes.</a:t>
            </a:r>
            <a:endParaRPr lang="ca-ES" sz="2500" b="0" u="none" strike="noStrike">
              <a:solidFill>
                <a:srgbClr val="000000"/>
              </a:solidFill>
              <a:effectLst/>
              <a:uFillTx/>
              <a:latin typeface="Arial"/>
            </a:endParaRPr>
          </a:p>
        </p:txBody>
      </p:sp>
      <p:sp>
        <p:nvSpPr>
          <p:cNvPr id="267" name="TextBox 8"/>
          <p:cNvSpPr/>
          <p:nvPr/>
        </p:nvSpPr>
        <p:spPr>
          <a:xfrm>
            <a:off x="548640" y="2971800"/>
            <a:ext cx="8229240" cy="2739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200" b="1" u="none" strike="noStrike">
                <a:solidFill>
                  <a:srgbClr val="175F16"/>
                </a:solidFill>
                <a:effectLst/>
                <a:uFillTx/>
                <a:latin typeface="Arial"/>
              </a:rPr>
              <a:t>RESULTATS D’APRENENTATGE</a:t>
            </a:r>
            <a:endParaRPr lang="ca-ES" sz="1200" b="0" u="none" strike="noStrike">
              <a:solidFill>
                <a:srgbClr val="000000"/>
              </a:solidFill>
              <a:effectLst/>
              <a:uFillTx/>
              <a:latin typeface="Arial"/>
            </a:endParaRPr>
          </a:p>
        </p:txBody>
      </p:sp>
      <p:sp>
        <p:nvSpPr>
          <p:cNvPr id="268" name="TextBox 9"/>
          <p:cNvSpPr/>
          <p:nvPr/>
        </p:nvSpPr>
        <p:spPr>
          <a:xfrm>
            <a:off x="9784080" y="2971800"/>
            <a:ext cx="1828440" cy="27396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200" b="1" u="none" strike="noStrike">
                <a:solidFill>
                  <a:srgbClr val="175F16"/>
                </a:solidFill>
                <a:effectLst/>
                <a:uFillTx/>
                <a:latin typeface="Arial"/>
              </a:rPr>
              <a:t>PES GLOBAL</a:t>
            </a:r>
            <a:endParaRPr lang="ca-ES" sz="1200" b="0" u="none" strike="noStrike">
              <a:solidFill>
                <a:srgbClr val="000000"/>
              </a:solidFill>
              <a:effectLst/>
              <a:uFillTx/>
              <a:latin typeface="Arial"/>
            </a:endParaRPr>
          </a:p>
        </p:txBody>
      </p:sp>
      <p:sp>
        <p:nvSpPr>
          <p:cNvPr id="269" name="Rectangle 10"/>
          <p:cNvSpPr/>
          <p:nvPr/>
        </p:nvSpPr>
        <p:spPr>
          <a:xfrm>
            <a:off x="530280" y="3337560"/>
            <a:ext cx="11127960" cy="116100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TextBox 11"/>
          <p:cNvSpPr/>
          <p:nvPr/>
        </p:nvSpPr>
        <p:spPr>
          <a:xfrm>
            <a:off x="731520" y="3483720"/>
            <a:ext cx="91404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175F16"/>
                </a:solidFill>
                <a:effectLst/>
                <a:uFillTx/>
                <a:latin typeface="Arial"/>
              </a:rPr>
              <a:t>RA2</a:t>
            </a:r>
            <a:endParaRPr lang="ca-ES" sz="2200" b="0" u="none" strike="noStrike">
              <a:solidFill>
                <a:srgbClr val="000000"/>
              </a:solidFill>
              <a:effectLst/>
              <a:uFillTx/>
              <a:latin typeface="Arial"/>
            </a:endParaRPr>
          </a:p>
        </p:txBody>
      </p:sp>
      <p:sp>
        <p:nvSpPr>
          <p:cNvPr id="271" name="TextBox 12"/>
          <p:cNvSpPr/>
          <p:nvPr/>
        </p:nvSpPr>
        <p:spPr>
          <a:xfrm>
            <a:off x="1783080" y="3447360"/>
            <a:ext cx="8183520" cy="10144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Escriu sentències executables per un servidor Web reconeixent i aplicant procediments de integració del codi en llenguatges de marques.</a:t>
            </a:r>
            <a:endParaRPr lang="ca-ES" sz="2200" b="0" u="none" strike="noStrike">
              <a:solidFill>
                <a:srgbClr val="000000"/>
              </a:solidFill>
              <a:effectLst/>
              <a:uFillTx/>
              <a:latin typeface="Arial"/>
            </a:endParaRPr>
          </a:p>
        </p:txBody>
      </p:sp>
      <p:sp>
        <p:nvSpPr>
          <p:cNvPr id="272" name="TextBox 13"/>
          <p:cNvSpPr/>
          <p:nvPr/>
        </p:nvSpPr>
        <p:spPr>
          <a:xfrm>
            <a:off x="10424160" y="3474720"/>
            <a:ext cx="959760" cy="45684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2600" b="1" u="none" strike="noStrike">
                <a:solidFill>
                  <a:srgbClr val="175F16"/>
                </a:solidFill>
                <a:effectLst/>
                <a:uFillTx/>
                <a:latin typeface="Arial"/>
              </a:rPr>
              <a:t>10%</a:t>
            </a:r>
            <a:endParaRPr lang="ca-ES" sz="2600" b="0" u="none" strike="noStrike">
              <a:solidFill>
                <a:srgbClr val="000000"/>
              </a:solidFill>
              <a:effectLst/>
              <a:uFillTx/>
              <a:latin typeface="Arial"/>
            </a:endParaRPr>
          </a:p>
        </p:txBody>
      </p:sp>
      <p:sp>
        <p:nvSpPr>
          <p:cNvPr id="273" name="Rectangle 14"/>
          <p:cNvSpPr/>
          <p:nvPr/>
        </p:nvSpPr>
        <p:spPr>
          <a:xfrm>
            <a:off x="530280" y="4617720"/>
            <a:ext cx="11127960" cy="100548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4" name="TextBox 15"/>
          <p:cNvSpPr/>
          <p:nvPr/>
        </p:nvSpPr>
        <p:spPr>
          <a:xfrm>
            <a:off x="731520" y="4763880"/>
            <a:ext cx="91404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175F16"/>
                </a:solidFill>
                <a:effectLst/>
                <a:uFillTx/>
                <a:latin typeface="Arial"/>
              </a:rPr>
              <a:t>RA3</a:t>
            </a:r>
            <a:endParaRPr lang="ca-ES" sz="2200" b="0" u="none" strike="noStrike">
              <a:solidFill>
                <a:srgbClr val="000000"/>
              </a:solidFill>
              <a:effectLst/>
              <a:uFillTx/>
              <a:latin typeface="Arial"/>
            </a:endParaRPr>
          </a:p>
        </p:txBody>
      </p:sp>
      <p:sp>
        <p:nvSpPr>
          <p:cNvPr id="275" name="TextBox 16"/>
          <p:cNvSpPr/>
          <p:nvPr/>
        </p:nvSpPr>
        <p:spPr>
          <a:xfrm>
            <a:off x="1783080" y="4727520"/>
            <a:ext cx="8183520" cy="859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Escriu blocs de sentències embeguts en llenguatges de marques, seleccionant i utilitzant les estructures de programació</a:t>
            </a:r>
            <a:endParaRPr lang="ca-ES" sz="2200" b="0" u="none" strike="noStrike">
              <a:solidFill>
                <a:srgbClr val="000000"/>
              </a:solidFill>
              <a:effectLst/>
              <a:uFillTx/>
              <a:latin typeface="Arial"/>
            </a:endParaRPr>
          </a:p>
        </p:txBody>
      </p:sp>
      <p:sp>
        <p:nvSpPr>
          <p:cNvPr id="276" name="TextBox 17"/>
          <p:cNvSpPr/>
          <p:nvPr/>
        </p:nvSpPr>
        <p:spPr>
          <a:xfrm>
            <a:off x="10424160" y="4754880"/>
            <a:ext cx="959760" cy="45684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2600" b="1" u="none" strike="noStrike">
                <a:solidFill>
                  <a:srgbClr val="175F16"/>
                </a:solidFill>
                <a:effectLst/>
                <a:uFillTx/>
                <a:latin typeface="Arial"/>
              </a:rPr>
              <a:t>10%</a:t>
            </a:r>
            <a:endParaRPr lang="ca-ES" sz="2600" b="0" u="none" strike="noStrike">
              <a:solidFill>
                <a:srgbClr val="000000"/>
              </a:solidFill>
              <a:effectLst/>
              <a:uFillTx/>
              <a:latin typeface="Arial"/>
            </a:endParaRPr>
          </a:p>
        </p:txBody>
      </p:sp>
      <p:sp>
        <p:nvSpPr>
          <p:cNvPr id="277" name="TextBox 18"/>
          <p:cNvSpPr/>
          <p:nvPr/>
        </p:nvSpPr>
        <p:spPr>
          <a:xfrm>
            <a:off x="548640" y="5797440"/>
            <a:ext cx="10972440" cy="4111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100" b="1" u="none" strike="noStrike">
                <a:solidFill>
                  <a:srgbClr val="175F16"/>
                </a:solidFill>
                <a:effectLst/>
                <a:uFillTx/>
                <a:latin typeface="Arial"/>
              </a:rPr>
              <a:t>Continua amb RA4, RA5 i RA8 →</a:t>
            </a:r>
            <a:endParaRPr lang="ca-ES"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79"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03 · UNITATS I RESULTATS D’APRENENTATGE · 2/2</a:t>
            </a:r>
            <a:endParaRPr lang="ca-ES" sz="1100" b="0" u="none" strike="noStrike">
              <a:solidFill>
                <a:srgbClr val="000000"/>
              </a:solidFill>
              <a:effectLst/>
              <a:uFillTx/>
              <a:latin typeface="Arial"/>
            </a:endParaRPr>
          </a:p>
        </p:txBody>
      </p:sp>
      <p:sp>
        <p:nvSpPr>
          <p:cNvPr id="280"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U4 · Aplicacions web: continuació</a:t>
            </a:r>
            <a:endParaRPr lang="ca-ES" sz="3200" b="0" u="none" strike="noStrike">
              <a:solidFill>
                <a:srgbClr val="000000"/>
              </a:solidFill>
              <a:effectLst/>
              <a:uFillTx/>
              <a:latin typeface="Arial"/>
            </a:endParaRPr>
          </a:p>
        </p:txBody>
      </p:sp>
      <p:sp>
        <p:nvSpPr>
          <p:cNvPr id="281"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282"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283"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12</a:t>
            </a:r>
            <a:endParaRPr lang="ca-ES" sz="1100" b="0" u="none" strike="noStrike">
              <a:solidFill>
                <a:srgbClr val="000000"/>
              </a:solidFill>
              <a:effectLst/>
              <a:uFillTx/>
              <a:latin typeface="Arial"/>
            </a:endParaRPr>
          </a:p>
        </p:txBody>
      </p:sp>
      <p:sp>
        <p:nvSpPr>
          <p:cNvPr id="284" name="TextBox 7"/>
          <p:cNvSpPr/>
          <p:nvPr/>
        </p:nvSpPr>
        <p:spPr>
          <a:xfrm>
            <a:off x="548640" y="1700640"/>
            <a:ext cx="8229240" cy="2739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200" b="1" u="none" strike="noStrike">
                <a:solidFill>
                  <a:srgbClr val="175F16"/>
                </a:solidFill>
                <a:effectLst/>
                <a:uFillTx/>
                <a:latin typeface="Arial"/>
              </a:rPr>
              <a:t>RESULTATS D’APRENENTATGE</a:t>
            </a:r>
            <a:endParaRPr lang="ca-ES" sz="1200" b="0" u="none" strike="noStrike">
              <a:solidFill>
                <a:srgbClr val="000000"/>
              </a:solidFill>
              <a:effectLst/>
              <a:uFillTx/>
              <a:latin typeface="Arial"/>
            </a:endParaRPr>
          </a:p>
        </p:txBody>
      </p:sp>
      <p:sp>
        <p:nvSpPr>
          <p:cNvPr id="285" name="TextBox 8"/>
          <p:cNvSpPr/>
          <p:nvPr/>
        </p:nvSpPr>
        <p:spPr>
          <a:xfrm>
            <a:off x="9784080" y="1700640"/>
            <a:ext cx="1828440" cy="27396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200" b="1" u="none" strike="noStrike">
                <a:solidFill>
                  <a:srgbClr val="175F16"/>
                </a:solidFill>
                <a:effectLst/>
                <a:uFillTx/>
                <a:latin typeface="Arial"/>
              </a:rPr>
              <a:t>PES GLOBAL</a:t>
            </a:r>
            <a:endParaRPr lang="ca-ES" sz="1200" b="0" u="none" strike="noStrike">
              <a:solidFill>
                <a:srgbClr val="000000"/>
              </a:solidFill>
              <a:effectLst/>
              <a:uFillTx/>
              <a:latin typeface="Arial"/>
            </a:endParaRPr>
          </a:p>
        </p:txBody>
      </p:sp>
      <p:sp>
        <p:nvSpPr>
          <p:cNvPr id="286" name="Rectangle 9"/>
          <p:cNvSpPr/>
          <p:nvPr/>
        </p:nvSpPr>
        <p:spPr>
          <a:xfrm>
            <a:off x="530280" y="2011680"/>
            <a:ext cx="11127960" cy="118836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7" name="TextBox 10"/>
          <p:cNvSpPr/>
          <p:nvPr/>
        </p:nvSpPr>
        <p:spPr>
          <a:xfrm>
            <a:off x="731520" y="2157840"/>
            <a:ext cx="91404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175F16"/>
                </a:solidFill>
                <a:effectLst/>
                <a:uFillTx/>
                <a:latin typeface="Arial"/>
              </a:rPr>
              <a:t>RA4</a:t>
            </a:r>
            <a:endParaRPr lang="ca-ES" sz="2200" b="0" u="none" strike="noStrike">
              <a:solidFill>
                <a:srgbClr val="000000"/>
              </a:solidFill>
              <a:effectLst/>
              <a:uFillTx/>
              <a:latin typeface="Arial"/>
            </a:endParaRPr>
          </a:p>
        </p:txBody>
      </p:sp>
      <p:sp>
        <p:nvSpPr>
          <p:cNvPr id="288" name="TextBox 11"/>
          <p:cNvSpPr/>
          <p:nvPr/>
        </p:nvSpPr>
        <p:spPr>
          <a:xfrm>
            <a:off x="1783080" y="2121480"/>
            <a:ext cx="8183520" cy="1041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Desenvolupa aplicacions Web embegudes en llenguatges de marques analitzant i incorporant funcionalitats segons especificacions.</a:t>
            </a:r>
            <a:endParaRPr lang="ca-ES" sz="2200" b="0" u="none" strike="noStrike">
              <a:solidFill>
                <a:srgbClr val="000000"/>
              </a:solidFill>
              <a:effectLst/>
              <a:uFillTx/>
              <a:latin typeface="Arial"/>
            </a:endParaRPr>
          </a:p>
        </p:txBody>
      </p:sp>
      <p:sp>
        <p:nvSpPr>
          <p:cNvPr id="289" name="TextBox 12"/>
          <p:cNvSpPr/>
          <p:nvPr/>
        </p:nvSpPr>
        <p:spPr>
          <a:xfrm>
            <a:off x="10424160" y="2148840"/>
            <a:ext cx="959760" cy="45684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2600" b="1" u="none" strike="noStrike">
                <a:solidFill>
                  <a:srgbClr val="175F16"/>
                </a:solidFill>
                <a:effectLst/>
                <a:uFillTx/>
                <a:latin typeface="Arial"/>
              </a:rPr>
              <a:t>10%</a:t>
            </a:r>
            <a:endParaRPr lang="ca-ES" sz="2600" b="0" u="none" strike="noStrike">
              <a:solidFill>
                <a:srgbClr val="000000"/>
              </a:solidFill>
              <a:effectLst/>
              <a:uFillTx/>
              <a:latin typeface="Arial"/>
            </a:endParaRPr>
          </a:p>
        </p:txBody>
      </p:sp>
      <p:sp>
        <p:nvSpPr>
          <p:cNvPr id="290" name="Rectangle 13"/>
          <p:cNvSpPr/>
          <p:nvPr/>
        </p:nvSpPr>
        <p:spPr>
          <a:xfrm>
            <a:off x="530280" y="3337560"/>
            <a:ext cx="11127960" cy="96876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1" name="TextBox 14"/>
          <p:cNvSpPr/>
          <p:nvPr/>
        </p:nvSpPr>
        <p:spPr>
          <a:xfrm>
            <a:off x="731520" y="3483720"/>
            <a:ext cx="91404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175F16"/>
                </a:solidFill>
                <a:effectLst/>
                <a:uFillTx/>
                <a:latin typeface="Arial"/>
              </a:rPr>
              <a:t>RA5</a:t>
            </a:r>
            <a:endParaRPr lang="ca-ES" sz="2200" b="0" u="none" strike="noStrike">
              <a:solidFill>
                <a:srgbClr val="000000"/>
              </a:solidFill>
              <a:effectLst/>
              <a:uFillTx/>
              <a:latin typeface="Arial"/>
            </a:endParaRPr>
          </a:p>
        </p:txBody>
      </p:sp>
      <p:sp>
        <p:nvSpPr>
          <p:cNvPr id="292" name="TextBox 15"/>
          <p:cNvSpPr/>
          <p:nvPr/>
        </p:nvSpPr>
        <p:spPr>
          <a:xfrm>
            <a:off x="1783080" y="3447360"/>
            <a:ext cx="8183520" cy="822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Desenvolupa aplicacions Web identificant i aplicant mecanismes per a separar el codi de presentació de la lògica de negoci.</a:t>
            </a:r>
            <a:endParaRPr lang="ca-ES" sz="2200" b="0" u="none" strike="noStrike">
              <a:solidFill>
                <a:srgbClr val="000000"/>
              </a:solidFill>
              <a:effectLst/>
              <a:uFillTx/>
              <a:latin typeface="Arial"/>
            </a:endParaRPr>
          </a:p>
        </p:txBody>
      </p:sp>
      <p:sp>
        <p:nvSpPr>
          <p:cNvPr id="293" name="TextBox 16"/>
          <p:cNvSpPr/>
          <p:nvPr/>
        </p:nvSpPr>
        <p:spPr>
          <a:xfrm>
            <a:off x="10424160" y="3474720"/>
            <a:ext cx="959760" cy="45684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2600" b="1" u="none" strike="noStrike">
                <a:solidFill>
                  <a:srgbClr val="175F16"/>
                </a:solidFill>
                <a:effectLst/>
                <a:uFillTx/>
                <a:latin typeface="Arial"/>
              </a:rPr>
              <a:t>10%</a:t>
            </a:r>
            <a:endParaRPr lang="ca-ES" sz="2600" b="0" u="none" strike="noStrike">
              <a:solidFill>
                <a:srgbClr val="000000"/>
              </a:solidFill>
              <a:effectLst/>
              <a:uFillTx/>
              <a:latin typeface="Arial"/>
            </a:endParaRPr>
          </a:p>
        </p:txBody>
      </p:sp>
      <p:sp>
        <p:nvSpPr>
          <p:cNvPr id="294" name="Rectangle 17"/>
          <p:cNvSpPr/>
          <p:nvPr/>
        </p:nvSpPr>
        <p:spPr>
          <a:xfrm>
            <a:off x="530280" y="4443840"/>
            <a:ext cx="11127960" cy="96876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5" name="TextBox 18"/>
          <p:cNvSpPr/>
          <p:nvPr/>
        </p:nvSpPr>
        <p:spPr>
          <a:xfrm>
            <a:off x="731520" y="4590360"/>
            <a:ext cx="91404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175F16"/>
                </a:solidFill>
                <a:effectLst/>
                <a:uFillTx/>
                <a:latin typeface="Arial"/>
              </a:rPr>
              <a:t>RA8</a:t>
            </a:r>
            <a:endParaRPr lang="ca-ES" sz="2200" b="0" u="none" strike="noStrike">
              <a:solidFill>
                <a:srgbClr val="000000"/>
              </a:solidFill>
              <a:effectLst/>
              <a:uFillTx/>
              <a:latin typeface="Arial"/>
            </a:endParaRPr>
          </a:p>
        </p:txBody>
      </p:sp>
      <p:sp>
        <p:nvSpPr>
          <p:cNvPr id="296" name="TextBox 19"/>
          <p:cNvSpPr/>
          <p:nvPr/>
        </p:nvSpPr>
        <p:spPr>
          <a:xfrm>
            <a:off x="1783080" y="4553640"/>
            <a:ext cx="8183520" cy="822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Genera pàgines Web dinàmiques analitzant i utilitzant tecnologies del servidor Web que afegeixin codi al llenguatge de marques</a:t>
            </a:r>
            <a:endParaRPr lang="ca-ES" sz="2200" b="0" u="none" strike="noStrike">
              <a:solidFill>
                <a:srgbClr val="000000"/>
              </a:solidFill>
              <a:effectLst/>
              <a:uFillTx/>
              <a:latin typeface="Arial"/>
            </a:endParaRPr>
          </a:p>
        </p:txBody>
      </p:sp>
      <p:sp>
        <p:nvSpPr>
          <p:cNvPr id="297" name="TextBox 20"/>
          <p:cNvSpPr/>
          <p:nvPr/>
        </p:nvSpPr>
        <p:spPr>
          <a:xfrm>
            <a:off x="10424160" y="4581000"/>
            <a:ext cx="959760" cy="45684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2600" b="1" u="none" strike="noStrike">
                <a:solidFill>
                  <a:srgbClr val="175F16"/>
                </a:solidFill>
                <a:effectLst/>
                <a:uFillTx/>
                <a:latin typeface="Arial"/>
              </a:rPr>
              <a:t>10%</a:t>
            </a:r>
            <a:endParaRPr lang="ca-ES" sz="2600" b="0" u="none" strike="noStrike">
              <a:solidFill>
                <a:srgbClr val="000000"/>
              </a:solidFill>
              <a:effectLst/>
              <a:uFillTx/>
              <a:latin typeface="Arial"/>
            </a:endParaRPr>
          </a:p>
        </p:txBody>
      </p:sp>
      <p:sp>
        <p:nvSpPr>
          <p:cNvPr id="298" name="Rectangle 21"/>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9" name="TextBox 22"/>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Durada de tota U4 · 120 hores</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301"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04 · AVALUACIÓ I QUALIFICACIÓ</a:t>
            </a:r>
            <a:endParaRPr lang="ca-ES" sz="1100" b="0" u="none" strike="noStrike">
              <a:solidFill>
                <a:srgbClr val="000000"/>
              </a:solidFill>
              <a:effectLst/>
              <a:uFillTx/>
              <a:latin typeface="Arial"/>
            </a:endParaRPr>
          </a:p>
        </p:txBody>
      </p:sp>
      <p:sp>
        <p:nvSpPr>
          <p:cNvPr id="302"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Avaluació: practicar i demostrar què sabem</a:t>
            </a:r>
            <a:endParaRPr lang="ca-ES" sz="3200" b="0" u="none" strike="noStrike">
              <a:solidFill>
                <a:srgbClr val="000000"/>
              </a:solidFill>
              <a:effectLst/>
              <a:uFillTx/>
              <a:latin typeface="Arial"/>
            </a:endParaRPr>
          </a:p>
        </p:txBody>
      </p:sp>
      <p:sp>
        <p:nvSpPr>
          <p:cNvPr id="303"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04"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305"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13</a:t>
            </a:r>
            <a:endParaRPr lang="ca-ES" sz="1100" b="0" u="none" strike="noStrike">
              <a:solidFill>
                <a:srgbClr val="000000"/>
              </a:solidFill>
              <a:effectLst/>
              <a:uFillTx/>
              <a:latin typeface="Arial"/>
            </a:endParaRPr>
          </a:p>
        </p:txBody>
      </p:sp>
      <p:sp>
        <p:nvSpPr>
          <p:cNvPr id="306" name="Rectangle 7"/>
          <p:cNvSpPr/>
          <p:nvPr/>
        </p:nvSpPr>
        <p:spPr>
          <a:xfrm>
            <a:off x="548640" y="1828800"/>
            <a:ext cx="5394600" cy="33098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7" name="Rectangle 8"/>
          <p:cNvSpPr/>
          <p:nvPr/>
        </p:nvSpPr>
        <p:spPr>
          <a:xfrm>
            <a:off x="548640" y="1828800"/>
            <a:ext cx="40680" cy="330984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8" name="TextBox 9"/>
          <p:cNvSpPr/>
          <p:nvPr/>
        </p:nvSpPr>
        <p:spPr>
          <a:xfrm>
            <a:off x="768240" y="204840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Pràctiques</a:t>
            </a:r>
            <a:endParaRPr lang="ca-ES" sz="2300" b="0" u="none" strike="noStrike">
              <a:solidFill>
                <a:srgbClr val="000000"/>
              </a:solidFill>
              <a:effectLst/>
              <a:uFillTx/>
              <a:latin typeface="Arial"/>
            </a:endParaRPr>
          </a:p>
        </p:txBody>
      </p:sp>
      <p:sp>
        <p:nvSpPr>
          <p:cNvPr id="309" name="TextBox 10"/>
          <p:cNvSpPr/>
          <p:nvPr/>
        </p:nvSpPr>
        <p:spPr>
          <a:xfrm>
            <a:off x="768240" y="2807280"/>
            <a:ext cx="4955760" cy="2267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Serveixen per aprendre i preparar l’examen.</a:t>
            </a:r>
            <a:endParaRPr lang="ca-ES" sz="2200" b="0" u="none" strike="noStrike">
              <a:solidFill>
                <a:srgbClr val="000000"/>
              </a:solidFill>
              <a:effectLst/>
              <a:uFillTx/>
              <a:latin typeface="Arial"/>
            </a:endParaRPr>
          </a:p>
          <a:p>
            <a:pPr defTabSz="457200">
              <a:lnSpc>
                <a:spcPct val="100000"/>
              </a:lnSpc>
              <a:spcAft>
                <a:spcPts val="601"/>
              </a:spcAft>
            </a:pPr>
            <a:endParaRPr lang="ca-ES" sz="2200" b="0" u="none" strike="noStrike">
              <a:solidFill>
                <a:srgbClr val="000000"/>
              </a:solidFill>
              <a:effectLst/>
              <a:uFillTx/>
              <a:latin typeface="Arial"/>
            </a:endParaRPr>
          </a:p>
          <a:p>
            <a:pPr defTabSz="457200">
              <a:lnSpc>
                <a:spcPct val="100000"/>
              </a:lnSpc>
              <a:spcAft>
                <a:spcPts val="601"/>
              </a:spcAft>
            </a:pPr>
            <a:r>
              <a:rPr lang="en-US" sz="2200" b="0" u="none" strike="noStrike">
                <a:solidFill>
                  <a:srgbClr val="202124"/>
                </a:solidFill>
                <a:effectLst/>
                <a:uFillTx/>
                <a:latin typeface="Arial"/>
              </a:rPr>
              <a:t>Tenen ponderació 0% en la nota.</a:t>
            </a:r>
            <a:endParaRPr lang="ca-ES" sz="2200" b="0" u="none" strike="noStrike">
              <a:solidFill>
                <a:srgbClr val="000000"/>
              </a:solidFill>
              <a:effectLst/>
              <a:uFillTx/>
              <a:latin typeface="Arial"/>
            </a:endParaRPr>
          </a:p>
        </p:txBody>
      </p:sp>
      <p:sp>
        <p:nvSpPr>
          <p:cNvPr id="310" name="Rectangle 11"/>
          <p:cNvSpPr/>
          <p:nvPr/>
        </p:nvSpPr>
        <p:spPr>
          <a:xfrm>
            <a:off x="6245280" y="1828800"/>
            <a:ext cx="5394600" cy="33098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1" name="Rectangle 12"/>
          <p:cNvSpPr/>
          <p:nvPr/>
        </p:nvSpPr>
        <p:spPr>
          <a:xfrm>
            <a:off x="6245280" y="1828800"/>
            <a:ext cx="40680" cy="330984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2" name="TextBox 13"/>
          <p:cNvSpPr/>
          <p:nvPr/>
        </p:nvSpPr>
        <p:spPr>
          <a:xfrm>
            <a:off x="6464880" y="2048400"/>
            <a:ext cx="495576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Exàmens en paper</a:t>
            </a:r>
            <a:endParaRPr lang="ca-ES" sz="2300" b="0" u="none" strike="noStrike">
              <a:solidFill>
                <a:srgbClr val="000000"/>
              </a:solidFill>
              <a:effectLst/>
              <a:uFillTx/>
              <a:latin typeface="Arial"/>
            </a:endParaRPr>
          </a:p>
        </p:txBody>
      </p:sp>
      <p:sp>
        <p:nvSpPr>
          <p:cNvPr id="313" name="TextBox 14"/>
          <p:cNvSpPr/>
          <p:nvPr/>
        </p:nvSpPr>
        <p:spPr>
          <a:xfrm>
            <a:off x="6464880" y="2807280"/>
            <a:ext cx="4955760" cy="2267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Les proves individuals permeten valorar els resultats d’aprenentatge treballats.</a:t>
            </a:r>
            <a:endParaRPr lang="ca-ES" sz="2200" b="0" u="none" strike="noStrike">
              <a:solidFill>
                <a:srgbClr val="000000"/>
              </a:solidFill>
              <a:effectLst/>
              <a:uFillTx/>
              <a:latin typeface="Arial"/>
            </a:endParaRPr>
          </a:p>
        </p:txBody>
      </p:sp>
      <p:sp>
        <p:nvSpPr>
          <p:cNvPr id="314" name="Rectangle 15"/>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5" name="TextBox 16"/>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Les pràctiques obligatòries s’han de lliurar i aprovar.</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317"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04 · AVALUACIÓ I QUALIFICACIÓ</a:t>
            </a:r>
            <a:endParaRPr lang="ca-ES" sz="1100" b="0" u="none" strike="noStrike">
              <a:solidFill>
                <a:srgbClr val="000000"/>
              </a:solidFill>
              <a:effectLst/>
              <a:uFillTx/>
              <a:latin typeface="Arial"/>
            </a:endParaRPr>
          </a:p>
        </p:txBody>
      </p:sp>
      <p:sp>
        <p:nvSpPr>
          <p:cNvPr id="318"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Cal aprovar tots els resultats d’aprenentatge</a:t>
            </a:r>
            <a:endParaRPr lang="ca-ES" sz="3200" b="0" u="none" strike="noStrike">
              <a:solidFill>
                <a:srgbClr val="000000"/>
              </a:solidFill>
              <a:effectLst/>
              <a:uFillTx/>
              <a:latin typeface="Arial"/>
            </a:endParaRPr>
          </a:p>
        </p:txBody>
      </p:sp>
      <p:sp>
        <p:nvSpPr>
          <p:cNvPr id="319"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20"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321"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14</a:t>
            </a:r>
            <a:endParaRPr lang="ca-ES" sz="1100" b="0" u="none" strike="noStrike">
              <a:solidFill>
                <a:srgbClr val="000000"/>
              </a:solidFill>
              <a:effectLst/>
              <a:uFillTx/>
              <a:latin typeface="Arial"/>
            </a:endParaRPr>
          </a:p>
        </p:txBody>
      </p:sp>
      <p:sp>
        <p:nvSpPr>
          <p:cNvPr id="322" name="TextBox 7"/>
          <p:cNvSpPr/>
          <p:nvPr/>
        </p:nvSpPr>
        <p:spPr>
          <a:xfrm>
            <a:off x="548640" y="1874520"/>
            <a:ext cx="10972440" cy="1023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4800" b="1" u="none" strike="noStrike">
                <a:solidFill>
                  <a:srgbClr val="175F16"/>
                </a:solidFill>
                <a:effectLst/>
                <a:uFillTx/>
                <a:latin typeface="Arial"/>
              </a:rPr>
              <a:t>Cada RA ≥ 5</a:t>
            </a:r>
            <a:endParaRPr lang="ca-ES" sz="4800" b="0" u="none" strike="noStrike">
              <a:solidFill>
                <a:srgbClr val="000000"/>
              </a:solidFill>
              <a:effectLst/>
              <a:uFillTx/>
              <a:latin typeface="Arial"/>
            </a:endParaRPr>
          </a:p>
        </p:txBody>
      </p:sp>
      <p:sp>
        <p:nvSpPr>
          <p:cNvPr id="323" name="TextBox 8"/>
          <p:cNvSpPr/>
          <p:nvPr/>
        </p:nvSpPr>
        <p:spPr>
          <a:xfrm>
            <a:off x="594360" y="3200400"/>
            <a:ext cx="10789560" cy="804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700" b="0" u="none" strike="noStrike">
                <a:solidFill>
                  <a:srgbClr val="202124"/>
                </a:solidFill>
                <a:effectLst/>
                <a:uFillTx/>
                <a:latin typeface="Arial"/>
              </a:rPr>
              <a:t>Una bona nota en un RA no compensa un altre RA suspès.</a:t>
            </a:r>
            <a:endParaRPr lang="ca-ES" sz="2700" b="0" u="none" strike="noStrike">
              <a:solidFill>
                <a:srgbClr val="000000"/>
              </a:solidFill>
              <a:effectLst/>
              <a:uFillTx/>
              <a:latin typeface="Arial"/>
            </a:endParaRPr>
          </a:p>
        </p:txBody>
      </p:sp>
      <p:sp>
        <p:nvSpPr>
          <p:cNvPr id="324" name="TextBox 9"/>
          <p:cNvSpPr/>
          <p:nvPr/>
        </p:nvSpPr>
        <p:spPr>
          <a:xfrm>
            <a:off x="594360" y="4233600"/>
            <a:ext cx="10789560" cy="959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500" b="0" u="none" strike="noStrike">
                <a:solidFill>
                  <a:srgbClr val="202124"/>
                </a:solidFill>
                <a:effectLst/>
                <a:uFillTx/>
                <a:latin typeface="Arial"/>
              </a:rPr>
              <a:t>Una nota de RA inferior a 5 no s’arrodoneix per convertir-la en un aprovat.</a:t>
            </a:r>
            <a:endParaRPr lang="ca-ES" sz="2500" b="0" u="none" strike="noStrike">
              <a:solidFill>
                <a:srgbClr val="000000"/>
              </a:solidFill>
              <a:effectLst/>
              <a:uFillTx/>
              <a:latin typeface="Arial"/>
            </a:endParaRPr>
          </a:p>
        </p:txBody>
      </p:sp>
      <p:sp>
        <p:nvSpPr>
          <p:cNvPr id="325" name="Rectangle 10"/>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6" name="TextBox 11"/>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Cada prova individual ha de tenir almenys un 5 per fer mitjana.</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328"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04 · AVALUACIÓ I QUALIFICACIÓ</a:t>
            </a:r>
            <a:endParaRPr lang="ca-ES" sz="1100" b="0" u="none" strike="noStrike">
              <a:solidFill>
                <a:srgbClr val="000000"/>
              </a:solidFill>
              <a:effectLst/>
              <a:uFillTx/>
              <a:latin typeface="Arial"/>
            </a:endParaRPr>
          </a:p>
        </p:txBody>
      </p:sp>
      <p:sp>
        <p:nvSpPr>
          <p:cNvPr id="329"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L’arrodoniment és el darrer pas</a:t>
            </a:r>
            <a:endParaRPr lang="ca-ES" sz="3200" b="0" u="none" strike="noStrike">
              <a:solidFill>
                <a:srgbClr val="000000"/>
              </a:solidFill>
              <a:effectLst/>
              <a:uFillTx/>
              <a:latin typeface="Arial"/>
            </a:endParaRPr>
          </a:p>
        </p:txBody>
      </p:sp>
      <p:sp>
        <p:nvSpPr>
          <p:cNvPr id="330"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31"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332"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15</a:t>
            </a:r>
            <a:endParaRPr lang="ca-ES" sz="1100" b="0" u="none" strike="noStrike">
              <a:solidFill>
                <a:srgbClr val="000000"/>
              </a:solidFill>
              <a:effectLst/>
              <a:uFillTx/>
              <a:latin typeface="Arial"/>
            </a:endParaRPr>
          </a:p>
        </p:txBody>
      </p:sp>
      <p:sp>
        <p:nvSpPr>
          <p:cNvPr id="333" name="Rectangle 7"/>
          <p:cNvSpPr/>
          <p:nvPr/>
        </p:nvSpPr>
        <p:spPr>
          <a:xfrm>
            <a:off x="548640" y="1783080"/>
            <a:ext cx="3529080" cy="34286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4" name="Rectangle 8"/>
          <p:cNvSpPr/>
          <p:nvPr/>
        </p:nvSpPr>
        <p:spPr>
          <a:xfrm>
            <a:off x="548640" y="1783080"/>
            <a:ext cx="40680" cy="342864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TextBox 9"/>
          <p:cNvSpPr/>
          <p:nvPr/>
        </p:nvSpPr>
        <p:spPr>
          <a:xfrm>
            <a:off x="768240" y="1920240"/>
            <a:ext cx="30902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01</a:t>
            </a:r>
            <a:endParaRPr lang="ca-ES" sz="2800" b="0" u="none" strike="noStrike">
              <a:solidFill>
                <a:srgbClr val="000000"/>
              </a:solidFill>
              <a:effectLst/>
              <a:uFillTx/>
              <a:latin typeface="Arial"/>
            </a:endParaRPr>
          </a:p>
        </p:txBody>
      </p:sp>
      <p:sp>
        <p:nvSpPr>
          <p:cNvPr id="336" name="TextBox 10"/>
          <p:cNvSpPr/>
          <p:nvPr/>
        </p:nvSpPr>
        <p:spPr>
          <a:xfrm>
            <a:off x="768240" y="248724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Comprovar els RA</a:t>
            </a:r>
            <a:endParaRPr lang="ca-ES" sz="2300" b="0" u="none" strike="noStrike">
              <a:solidFill>
                <a:srgbClr val="000000"/>
              </a:solidFill>
              <a:effectLst/>
              <a:uFillTx/>
              <a:latin typeface="Arial"/>
            </a:endParaRPr>
          </a:p>
        </p:txBody>
      </p:sp>
      <p:sp>
        <p:nvSpPr>
          <p:cNvPr id="337" name="TextBox 11"/>
          <p:cNvSpPr/>
          <p:nvPr/>
        </p:nvSpPr>
        <p:spPr>
          <a:xfrm>
            <a:off x="768240" y="3246120"/>
            <a:ext cx="3090240" cy="19015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Tots han d’estar aprovats amb una nota igual o superior a 5.</a:t>
            </a:r>
            <a:endParaRPr lang="ca-ES" sz="2200" b="0" u="none" strike="noStrike">
              <a:solidFill>
                <a:srgbClr val="000000"/>
              </a:solidFill>
              <a:effectLst/>
              <a:uFillTx/>
              <a:latin typeface="Arial"/>
            </a:endParaRPr>
          </a:p>
        </p:txBody>
      </p:sp>
      <p:sp>
        <p:nvSpPr>
          <p:cNvPr id="338" name="Rectangle 12"/>
          <p:cNvSpPr/>
          <p:nvPr/>
        </p:nvSpPr>
        <p:spPr>
          <a:xfrm>
            <a:off x="4334400" y="1783080"/>
            <a:ext cx="3529080" cy="34286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9" name="Rectangle 13"/>
          <p:cNvSpPr/>
          <p:nvPr/>
        </p:nvSpPr>
        <p:spPr>
          <a:xfrm>
            <a:off x="4334400" y="1783080"/>
            <a:ext cx="40680" cy="342864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0" name="TextBox 14"/>
          <p:cNvSpPr/>
          <p:nvPr/>
        </p:nvSpPr>
        <p:spPr>
          <a:xfrm>
            <a:off x="4553640" y="1920240"/>
            <a:ext cx="30902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02</a:t>
            </a:r>
            <a:endParaRPr lang="ca-ES" sz="2800" b="0" u="none" strike="noStrike">
              <a:solidFill>
                <a:srgbClr val="000000"/>
              </a:solidFill>
              <a:effectLst/>
              <a:uFillTx/>
              <a:latin typeface="Arial"/>
            </a:endParaRPr>
          </a:p>
        </p:txBody>
      </p:sp>
      <p:sp>
        <p:nvSpPr>
          <p:cNvPr id="341" name="TextBox 15"/>
          <p:cNvSpPr/>
          <p:nvPr/>
        </p:nvSpPr>
        <p:spPr>
          <a:xfrm>
            <a:off x="4553640" y="248724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Aplicar els pesos</a:t>
            </a:r>
            <a:endParaRPr lang="ca-ES" sz="2300" b="0" u="none" strike="noStrike">
              <a:solidFill>
                <a:srgbClr val="000000"/>
              </a:solidFill>
              <a:effectLst/>
              <a:uFillTx/>
              <a:latin typeface="Arial"/>
            </a:endParaRPr>
          </a:p>
        </p:txBody>
      </p:sp>
      <p:sp>
        <p:nvSpPr>
          <p:cNvPr id="342" name="TextBox 16"/>
          <p:cNvSpPr/>
          <p:nvPr/>
        </p:nvSpPr>
        <p:spPr>
          <a:xfrm>
            <a:off x="4553640" y="3246120"/>
            <a:ext cx="3090240" cy="19015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Calcular la nota ponderada amb els percentatges globals dels RA.</a:t>
            </a:r>
            <a:endParaRPr lang="ca-ES" sz="2200" b="0" u="none" strike="noStrike">
              <a:solidFill>
                <a:srgbClr val="000000"/>
              </a:solidFill>
              <a:effectLst/>
              <a:uFillTx/>
              <a:latin typeface="Arial"/>
            </a:endParaRPr>
          </a:p>
        </p:txBody>
      </p:sp>
      <p:sp>
        <p:nvSpPr>
          <p:cNvPr id="343" name="Rectangle 17"/>
          <p:cNvSpPr/>
          <p:nvPr/>
        </p:nvSpPr>
        <p:spPr>
          <a:xfrm>
            <a:off x="8119800" y="1783080"/>
            <a:ext cx="3529080" cy="34286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4" name="Rectangle 18"/>
          <p:cNvSpPr/>
          <p:nvPr/>
        </p:nvSpPr>
        <p:spPr>
          <a:xfrm>
            <a:off x="8119800" y="1783080"/>
            <a:ext cx="40680" cy="342864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5" name="TextBox 19"/>
          <p:cNvSpPr/>
          <p:nvPr/>
        </p:nvSpPr>
        <p:spPr>
          <a:xfrm>
            <a:off x="8339400" y="1920240"/>
            <a:ext cx="3090240" cy="4568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800" b="1" u="none" strike="noStrike">
                <a:solidFill>
                  <a:srgbClr val="175F16"/>
                </a:solidFill>
                <a:effectLst/>
                <a:uFillTx/>
                <a:latin typeface="Arial"/>
              </a:rPr>
              <a:t>03</a:t>
            </a:r>
            <a:endParaRPr lang="ca-ES" sz="2800" b="0" u="none" strike="noStrike">
              <a:solidFill>
                <a:srgbClr val="000000"/>
              </a:solidFill>
              <a:effectLst/>
              <a:uFillTx/>
              <a:latin typeface="Arial"/>
            </a:endParaRPr>
          </a:p>
        </p:txBody>
      </p:sp>
      <p:sp>
        <p:nvSpPr>
          <p:cNvPr id="346" name="TextBox 20"/>
          <p:cNvSpPr/>
          <p:nvPr/>
        </p:nvSpPr>
        <p:spPr>
          <a:xfrm>
            <a:off x="8339400" y="248724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Arrodonir la nota</a:t>
            </a:r>
            <a:endParaRPr lang="ca-ES" sz="2300" b="0" u="none" strike="noStrike">
              <a:solidFill>
                <a:srgbClr val="000000"/>
              </a:solidFill>
              <a:effectLst/>
              <a:uFillTx/>
              <a:latin typeface="Arial"/>
            </a:endParaRPr>
          </a:p>
        </p:txBody>
      </p:sp>
      <p:sp>
        <p:nvSpPr>
          <p:cNvPr id="347" name="TextBox 21"/>
          <p:cNvSpPr/>
          <p:nvPr/>
        </p:nvSpPr>
        <p:spPr>
          <a:xfrm>
            <a:off x="8339400" y="3246120"/>
            <a:ext cx="3090240" cy="19015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Aplicar l’arrodoniment natural a la nota final del mòdul.</a:t>
            </a:r>
            <a:endParaRPr lang="ca-ES" sz="2200" b="0" u="none" strike="noStrike">
              <a:solidFill>
                <a:srgbClr val="000000"/>
              </a:solidFill>
              <a:effectLst/>
              <a:uFillTx/>
              <a:latin typeface="Arial"/>
            </a:endParaRPr>
          </a:p>
        </p:txBody>
      </p:sp>
      <p:sp>
        <p:nvSpPr>
          <p:cNvPr id="348" name="Rectangle 22"/>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9" name="TextBox 23"/>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L’arrodoniment només s’aplica després de superar tots els RA.</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351"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04 · AVALUACIÓ I QUALIFICACIÓ</a:t>
            </a:r>
            <a:endParaRPr lang="ca-ES" sz="1100" b="0" u="none" strike="noStrike">
              <a:solidFill>
                <a:srgbClr val="000000"/>
              </a:solidFill>
              <a:effectLst/>
              <a:uFillTx/>
              <a:latin typeface="Arial"/>
            </a:endParaRPr>
          </a:p>
        </p:txBody>
      </p:sp>
      <p:sp>
        <p:nvSpPr>
          <p:cNvPr id="352"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Tres exemples per entendre-ho</a:t>
            </a:r>
            <a:endParaRPr lang="ca-ES" sz="3200" b="0" u="none" strike="noStrike">
              <a:solidFill>
                <a:srgbClr val="000000"/>
              </a:solidFill>
              <a:effectLst/>
              <a:uFillTx/>
              <a:latin typeface="Arial"/>
            </a:endParaRPr>
          </a:p>
        </p:txBody>
      </p:sp>
      <p:sp>
        <p:nvSpPr>
          <p:cNvPr id="353"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54"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355"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16</a:t>
            </a:r>
            <a:endParaRPr lang="ca-ES" sz="1100" b="0" u="none" strike="noStrike">
              <a:solidFill>
                <a:srgbClr val="000000"/>
              </a:solidFill>
              <a:effectLst/>
              <a:uFillTx/>
              <a:latin typeface="Arial"/>
            </a:endParaRPr>
          </a:p>
        </p:txBody>
      </p:sp>
      <p:sp>
        <p:nvSpPr>
          <p:cNvPr id="356" name="Rectangle 7"/>
          <p:cNvSpPr/>
          <p:nvPr/>
        </p:nvSpPr>
        <p:spPr>
          <a:xfrm>
            <a:off x="548640" y="1856160"/>
            <a:ext cx="3529080" cy="38858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7" name="Rectangle 8"/>
          <p:cNvSpPr/>
          <p:nvPr/>
        </p:nvSpPr>
        <p:spPr>
          <a:xfrm>
            <a:off x="548640" y="1856160"/>
            <a:ext cx="40680" cy="388584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8" name="TextBox 9"/>
          <p:cNvSpPr/>
          <p:nvPr/>
        </p:nvSpPr>
        <p:spPr>
          <a:xfrm>
            <a:off x="768240" y="207576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Un RA té 4,9</a:t>
            </a:r>
            <a:endParaRPr lang="ca-ES" sz="2300" b="0" u="none" strike="noStrike">
              <a:solidFill>
                <a:srgbClr val="000000"/>
              </a:solidFill>
              <a:effectLst/>
              <a:uFillTx/>
              <a:latin typeface="Arial"/>
            </a:endParaRPr>
          </a:p>
        </p:txBody>
      </p:sp>
      <p:sp>
        <p:nvSpPr>
          <p:cNvPr id="359" name="TextBox 10"/>
          <p:cNvSpPr/>
          <p:nvPr/>
        </p:nvSpPr>
        <p:spPr>
          <a:xfrm>
            <a:off x="768240" y="2834640"/>
            <a:ext cx="3090240" cy="2843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El RA continua suspès.</a:t>
            </a:r>
            <a:endParaRPr lang="ca-ES" sz="2200" b="0" u="none" strike="noStrike">
              <a:solidFill>
                <a:srgbClr val="000000"/>
              </a:solidFill>
              <a:effectLst/>
              <a:uFillTx/>
              <a:latin typeface="Arial"/>
            </a:endParaRPr>
          </a:p>
          <a:p>
            <a:pPr defTabSz="457200">
              <a:lnSpc>
                <a:spcPct val="100000"/>
              </a:lnSpc>
              <a:spcAft>
                <a:spcPts val="601"/>
              </a:spcAft>
            </a:pPr>
            <a:endParaRPr lang="ca-ES" sz="2200" b="0" u="none" strike="noStrike">
              <a:solidFill>
                <a:srgbClr val="000000"/>
              </a:solidFill>
              <a:effectLst/>
              <a:uFillTx/>
              <a:latin typeface="Arial"/>
            </a:endParaRPr>
          </a:p>
          <a:p>
            <a:pPr defTabSz="457200">
              <a:lnSpc>
                <a:spcPct val="100000"/>
              </a:lnSpc>
              <a:spcAft>
                <a:spcPts val="601"/>
              </a:spcAft>
            </a:pPr>
            <a:r>
              <a:rPr lang="en-US" sz="2200" b="0" u="none" strike="noStrike">
                <a:solidFill>
                  <a:srgbClr val="202124"/>
                </a:solidFill>
                <a:effectLst/>
                <a:uFillTx/>
                <a:latin typeface="Arial"/>
              </a:rPr>
              <a:t>Encara que la mitjana sigui alta, cal recuperar-lo.</a:t>
            </a:r>
            <a:endParaRPr lang="ca-ES" sz="2200" b="0" u="none" strike="noStrike">
              <a:solidFill>
                <a:srgbClr val="000000"/>
              </a:solidFill>
              <a:effectLst/>
              <a:uFillTx/>
              <a:latin typeface="Arial"/>
            </a:endParaRPr>
          </a:p>
        </p:txBody>
      </p:sp>
      <p:sp>
        <p:nvSpPr>
          <p:cNvPr id="360" name="Rectangle 11"/>
          <p:cNvSpPr/>
          <p:nvPr/>
        </p:nvSpPr>
        <p:spPr>
          <a:xfrm>
            <a:off x="4334400" y="1856160"/>
            <a:ext cx="3529080" cy="38858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1" name="Rectangle 12"/>
          <p:cNvSpPr/>
          <p:nvPr/>
        </p:nvSpPr>
        <p:spPr>
          <a:xfrm>
            <a:off x="4334400" y="1856160"/>
            <a:ext cx="40680" cy="388584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2" name="TextBox 13"/>
          <p:cNvSpPr/>
          <p:nvPr/>
        </p:nvSpPr>
        <p:spPr>
          <a:xfrm>
            <a:off x="4553640" y="207576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Tots aprovats: 6,49</a:t>
            </a:r>
            <a:endParaRPr lang="ca-ES" sz="2300" b="0" u="none" strike="noStrike">
              <a:solidFill>
                <a:srgbClr val="000000"/>
              </a:solidFill>
              <a:effectLst/>
              <a:uFillTx/>
              <a:latin typeface="Arial"/>
            </a:endParaRPr>
          </a:p>
        </p:txBody>
      </p:sp>
      <p:sp>
        <p:nvSpPr>
          <p:cNvPr id="363" name="TextBox 14"/>
          <p:cNvSpPr/>
          <p:nvPr/>
        </p:nvSpPr>
        <p:spPr>
          <a:xfrm>
            <a:off x="4553640" y="2834640"/>
            <a:ext cx="3090240" cy="2843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La nota ponderada final és 6,49.</a:t>
            </a:r>
            <a:endParaRPr lang="ca-ES" sz="2200" b="0" u="none" strike="noStrike">
              <a:solidFill>
                <a:srgbClr val="000000"/>
              </a:solidFill>
              <a:effectLst/>
              <a:uFillTx/>
              <a:latin typeface="Arial"/>
            </a:endParaRPr>
          </a:p>
          <a:p>
            <a:pPr defTabSz="457200">
              <a:lnSpc>
                <a:spcPct val="100000"/>
              </a:lnSpc>
              <a:spcAft>
                <a:spcPts val="601"/>
              </a:spcAft>
            </a:pPr>
            <a:endParaRPr lang="ca-ES" sz="2200" b="0" u="none" strike="noStrike">
              <a:solidFill>
                <a:srgbClr val="000000"/>
              </a:solidFill>
              <a:effectLst/>
              <a:uFillTx/>
              <a:latin typeface="Arial"/>
            </a:endParaRPr>
          </a:p>
          <a:p>
            <a:pPr defTabSz="457200">
              <a:lnSpc>
                <a:spcPct val="100000"/>
              </a:lnSpc>
              <a:spcAft>
                <a:spcPts val="601"/>
              </a:spcAft>
            </a:pPr>
            <a:r>
              <a:rPr lang="en-US" sz="2200" b="0" u="none" strike="noStrike">
                <a:solidFill>
                  <a:srgbClr val="202124"/>
                </a:solidFill>
                <a:effectLst/>
                <a:uFillTx/>
                <a:latin typeface="Arial"/>
              </a:rPr>
              <a:t>Arrodoniment natural: 6.</a:t>
            </a:r>
            <a:endParaRPr lang="ca-ES" sz="2200" b="0" u="none" strike="noStrike">
              <a:solidFill>
                <a:srgbClr val="000000"/>
              </a:solidFill>
              <a:effectLst/>
              <a:uFillTx/>
              <a:latin typeface="Arial"/>
            </a:endParaRPr>
          </a:p>
        </p:txBody>
      </p:sp>
      <p:sp>
        <p:nvSpPr>
          <p:cNvPr id="364" name="Rectangle 15"/>
          <p:cNvSpPr/>
          <p:nvPr/>
        </p:nvSpPr>
        <p:spPr>
          <a:xfrm>
            <a:off x="8119800" y="1856160"/>
            <a:ext cx="3529080" cy="3885840"/>
          </a:xfrm>
          <a:prstGeom prst="rect">
            <a:avLst/>
          </a:prstGeom>
          <a:solidFill>
            <a:srgbClr val="F3F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5" name="Rectangle 16"/>
          <p:cNvSpPr/>
          <p:nvPr/>
        </p:nvSpPr>
        <p:spPr>
          <a:xfrm>
            <a:off x="8119800" y="1856160"/>
            <a:ext cx="40680" cy="388584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6" name="TextBox 17"/>
          <p:cNvSpPr/>
          <p:nvPr/>
        </p:nvSpPr>
        <p:spPr>
          <a:xfrm>
            <a:off x="8339400" y="2075760"/>
            <a:ext cx="3090240" cy="6670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1" u="none" strike="noStrike">
                <a:solidFill>
                  <a:srgbClr val="175F16"/>
                </a:solidFill>
                <a:effectLst/>
                <a:uFillTx/>
                <a:latin typeface="Arial"/>
              </a:rPr>
              <a:t>Tots aprovats: 6,50</a:t>
            </a:r>
            <a:endParaRPr lang="ca-ES" sz="2300" b="0" u="none" strike="noStrike">
              <a:solidFill>
                <a:srgbClr val="000000"/>
              </a:solidFill>
              <a:effectLst/>
              <a:uFillTx/>
              <a:latin typeface="Arial"/>
            </a:endParaRPr>
          </a:p>
        </p:txBody>
      </p:sp>
      <p:sp>
        <p:nvSpPr>
          <p:cNvPr id="367" name="TextBox 18"/>
          <p:cNvSpPr/>
          <p:nvPr/>
        </p:nvSpPr>
        <p:spPr>
          <a:xfrm>
            <a:off x="8339400" y="2834640"/>
            <a:ext cx="3090240" cy="2843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0" u="none" strike="noStrike">
                <a:solidFill>
                  <a:srgbClr val="202124"/>
                </a:solidFill>
                <a:effectLst/>
                <a:uFillTx/>
                <a:latin typeface="Arial"/>
              </a:rPr>
              <a:t>La nota ponderada final és 6,50.</a:t>
            </a:r>
            <a:endParaRPr lang="ca-ES" sz="2200" b="0" u="none" strike="noStrike">
              <a:solidFill>
                <a:srgbClr val="000000"/>
              </a:solidFill>
              <a:effectLst/>
              <a:uFillTx/>
              <a:latin typeface="Arial"/>
            </a:endParaRPr>
          </a:p>
          <a:p>
            <a:pPr defTabSz="457200">
              <a:lnSpc>
                <a:spcPct val="100000"/>
              </a:lnSpc>
              <a:spcAft>
                <a:spcPts val="601"/>
              </a:spcAft>
            </a:pPr>
            <a:endParaRPr lang="ca-ES" sz="2200" b="0" u="none" strike="noStrike">
              <a:solidFill>
                <a:srgbClr val="000000"/>
              </a:solidFill>
              <a:effectLst/>
              <a:uFillTx/>
              <a:latin typeface="Arial"/>
            </a:endParaRPr>
          </a:p>
          <a:p>
            <a:pPr defTabSz="457200">
              <a:lnSpc>
                <a:spcPct val="100000"/>
              </a:lnSpc>
              <a:spcAft>
                <a:spcPts val="601"/>
              </a:spcAft>
            </a:pPr>
            <a:r>
              <a:rPr lang="en-US" sz="2200" b="0" u="none" strike="noStrike">
                <a:solidFill>
                  <a:srgbClr val="202124"/>
                </a:solidFill>
                <a:effectLst/>
                <a:uFillTx/>
                <a:latin typeface="Arial"/>
              </a:rPr>
              <a:t>Arrodoniment natural: 7.</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369"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04 · AVALUACIÓ I QUALIFICACIÓ</a:t>
            </a:r>
            <a:endParaRPr lang="ca-ES" sz="1100" b="0" u="none" strike="noStrike">
              <a:solidFill>
                <a:srgbClr val="000000"/>
              </a:solidFill>
              <a:effectLst/>
              <a:uFillTx/>
              <a:latin typeface="Arial"/>
            </a:endParaRPr>
          </a:p>
        </p:txBody>
      </p:sp>
      <p:sp>
        <p:nvSpPr>
          <p:cNvPr id="370"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Recuperació dels RA suspesos</a:t>
            </a:r>
            <a:endParaRPr lang="ca-ES" sz="3200" b="0" u="none" strike="noStrike">
              <a:solidFill>
                <a:srgbClr val="000000"/>
              </a:solidFill>
              <a:effectLst/>
              <a:uFillTx/>
              <a:latin typeface="Arial"/>
            </a:endParaRPr>
          </a:p>
        </p:txBody>
      </p:sp>
      <p:sp>
        <p:nvSpPr>
          <p:cNvPr id="371"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72"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373"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17</a:t>
            </a:r>
            <a:endParaRPr lang="ca-ES" sz="1100" b="0" u="none" strike="noStrike">
              <a:solidFill>
                <a:srgbClr val="000000"/>
              </a:solidFill>
              <a:effectLst/>
              <a:uFillTx/>
              <a:latin typeface="Arial"/>
            </a:endParaRPr>
          </a:p>
        </p:txBody>
      </p:sp>
      <p:sp>
        <p:nvSpPr>
          <p:cNvPr id="374" name="TextBox 7"/>
          <p:cNvSpPr/>
          <p:nvPr/>
        </p:nvSpPr>
        <p:spPr>
          <a:xfrm>
            <a:off x="548640" y="1828800"/>
            <a:ext cx="10972440" cy="822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4000" b="1" u="none" strike="noStrike">
                <a:solidFill>
                  <a:srgbClr val="175F16"/>
                </a:solidFill>
                <a:effectLst/>
                <a:uFillTx/>
                <a:latin typeface="Arial"/>
              </a:rPr>
              <a:t>A final de curs</a:t>
            </a:r>
            <a:endParaRPr lang="ca-ES" sz="4000" b="0" u="none" strike="noStrike">
              <a:solidFill>
                <a:srgbClr val="000000"/>
              </a:solidFill>
              <a:effectLst/>
              <a:uFillTx/>
              <a:latin typeface="Arial"/>
            </a:endParaRPr>
          </a:p>
        </p:txBody>
      </p:sp>
      <p:sp>
        <p:nvSpPr>
          <p:cNvPr id="375" name="TextBox 8"/>
          <p:cNvSpPr/>
          <p:nvPr/>
        </p:nvSpPr>
        <p:spPr>
          <a:xfrm>
            <a:off x="594360" y="2834640"/>
            <a:ext cx="10789560" cy="8866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700" b="0" u="none" strike="noStrike">
                <a:solidFill>
                  <a:srgbClr val="202124"/>
                </a:solidFill>
                <a:effectLst/>
                <a:uFillTx/>
                <a:latin typeface="Arial"/>
              </a:rPr>
              <a:t>Es podran recuperar els resultats d’aprenentatge que hagin quedat suspesos.</a:t>
            </a:r>
            <a:endParaRPr lang="ca-ES" sz="2700" b="0" u="none" strike="noStrike">
              <a:solidFill>
                <a:srgbClr val="000000"/>
              </a:solidFill>
              <a:effectLst/>
              <a:uFillTx/>
              <a:latin typeface="Arial"/>
            </a:endParaRPr>
          </a:p>
        </p:txBody>
      </p:sp>
      <p:sp>
        <p:nvSpPr>
          <p:cNvPr id="376" name="TextBox 9"/>
          <p:cNvSpPr/>
          <p:nvPr/>
        </p:nvSpPr>
        <p:spPr>
          <a:xfrm>
            <a:off x="594360" y="3977640"/>
            <a:ext cx="10789560" cy="12981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400" b="0" u="none" strike="noStrike">
                <a:solidFill>
                  <a:srgbClr val="202124"/>
                </a:solidFill>
                <a:effectLst/>
                <a:uFillTx/>
                <a:latin typeface="Arial"/>
              </a:rPr>
              <a:t>La recuperació comprovarà els aprenentatges no assolits.</a:t>
            </a:r>
            <a:endParaRPr lang="ca-ES" sz="2400" b="0" u="none" strike="noStrike">
              <a:solidFill>
                <a:srgbClr val="000000"/>
              </a:solidFill>
              <a:effectLst/>
              <a:uFillTx/>
              <a:latin typeface="Arial"/>
            </a:endParaRPr>
          </a:p>
          <a:p>
            <a:pPr defTabSz="457200">
              <a:lnSpc>
                <a:spcPct val="100000"/>
              </a:lnSpc>
              <a:spcAft>
                <a:spcPts val="601"/>
              </a:spcAft>
            </a:pPr>
            <a:r>
              <a:rPr lang="en-US" sz="2400" b="0" u="none" strike="noStrike">
                <a:solidFill>
                  <a:srgbClr val="202124"/>
                </a:solidFill>
                <a:effectLst/>
                <a:uFillTx/>
                <a:latin typeface="Arial"/>
              </a:rPr>
              <a:t>Segons la programació, la nota màxima de les proves de recuperació és 5.</a:t>
            </a:r>
            <a:endParaRPr lang="ca-ES" sz="2400" b="0" u="none" strike="noStrike">
              <a:solidFill>
                <a:srgbClr val="000000"/>
              </a:solidFill>
              <a:effectLst/>
              <a:uFillTx/>
              <a:latin typeface="Arial"/>
            </a:endParaRPr>
          </a:p>
        </p:txBody>
      </p:sp>
      <p:sp>
        <p:nvSpPr>
          <p:cNvPr id="377" name="Rectangle 10"/>
          <p:cNvSpPr/>
          <p:nvPr/>
        </p:nvSpPr>
        <p:spPr>
          <a:xfrm>
            <a:off x="530280" y="5623560"/>
            <a:ext cx="11127960" cy="58500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8" name="TextBox 11"/>
          <p:cNvSpPr/>
          <p:nvPr/>
        </p:nvSpPr>
        <p:spPr>
          <a:xfrm>
            <a:off x="749880" y="5715000"/>
            <a:ext cx="10698120" cy="39276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200" b="1" u="none" strike="noStrike">
                <a:solidFill>
                  <a:srgbClr val="FFFFFF"/>
                </a:solidFill>
                <a:effectLst/>
                <a:uFillTx/>
                <a:latin typeface="Arial"/>
              </a:rPr>
              <a:t>Per superar el mòdul, tots els RA han de quedar aprovats.</a:t>
            </a:r>
            <a:endParaRPr lang="ca-E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Rectangle 1"/>
          <p:cNvSpPr/>
          <p:nvPr/>
        </p:nvSpPr>
        <p:spPr>
          <a:xfrm>
            <a:off x="0" y="0"/>
            <a:ext cx="12192120" cy="82080"/>
          </a:xfrm>
          <a:prstGeom prst="rect">
            <a:avLst/>
          </a:prstGeom>
          <a:solidFill>
            <a:srgbClr val="175F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380" name="TextBox 2"/>
          <p:cNvSpPr/>
          <p:nvPr/>
        </p:nvSpPr>
        <p:spPr>
          <a:xfrm>
            <a:off x="530280" y="274320"/>
            <a:ext cx="10972440" cy="25560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1" u="none" strike="noStrike">
                <a:solidFill>
                  <a:srgbClr val="175F16"/>
                </a:solidFill>
                <a:effectLst/>
                <a:uFillTx/>
                <a:latin typeface="Arial"/>
              </a:rPr>
              <a:t>04 · AVALUACIÓ I QUALIFICACIÓ</a:t>
            </a:r>
            <a:endParaRPr lang="ca-ES" sz="1100" b="0" u="none" strike="noStrike">
              <a:solidFill>
                <a:srgbClr val="000000"/>
              </a:solidFill>
              <a:effectLst/>
              <a:uFillTx/>
              <a:latin typeface="Arial"/>
            </a:endParaRPr>
          </a:p>
        </p:txBody>
      </p:sp>
      <p:sp>
        <p:nvSpPr>
          <p:cNvPr id="381" name="TextBox 3"/>
          <p:cNvSpPr/>
          <p:nvPr/>
        </p:nvSpPr>
        <p:spPr>
          <a:xfrm>
            <a:off x="530280" y="731520"/>
            <a:ext cx="11109600" cy="86832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3200" b="1" u="none" strike="noStrike">
                <a:solidFill>
                  <a:srgbClr val="175F16"/>
                </a:solidFill>
                <a:effectLst/>
                <a:uFillTx/>
                <a:latin typeface="Arial"/>
              </a:rPr>
              <a:t>Altres criteris que hem de tenir clars</a:t>
            </a:r>
            <a:endParaRPr lang="ca-ES" sz="3200" b="0" u="none" strike="noStrike">
              <a:solidFill>
                <a:srgbClr val="000000"/>
              </a:solidFill>
              <a:effectLst/>
              <a:uFillTx/>
              <a:latin typeface="Arial"/>
            </a:endParaRPr>
          </a:p>
        </p:txBody>
      </p:sp>
      <p:sp>
        <p:nvSpPr>
          <p:cNvPr id="382" name="Rectangle 4"/>
          <p:cNvSpPr/>
          <p:nvPr/>
        </p:nvSpPr>
        <p:spPr>
          <a:xfrm>
            <a:off x="530280" y="6428160"/>
            <a:ext cx="11127960" cy="10440"/>
          </a:xfrm>
          <a:prstGeom prst="rect">
            <a:avLst/>
          </a:prstGeom>
          <a:solidFill>
            <a:srgbClr val="DDE5D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endParaRPr lang="en-US" sz="1800" b="0" u="none" strike="noStrike">
              <a:solidFill>
                <a:schemeClr val="lt1"/>
              </a:solidFill>
              <a:effectLst/>
              <a:uFillTx/>
              <a:latin typeface="Calibri"/>
            </a:endParaRPr>
          </a:p>
        </p:txBody>
      </p:sp>
      <p:sp>
        <p:nvSpPr>
          <p:cNvPr id="383" name="TextBox 5"/>
          <p:cNvSpPr/>
          <p:nvPr/>
        </p:nvSpPr>
        <p:spPr>
          <a:xfrm>
            <a:off x="530280" y="6510600"/>
            <a:ext cx="9143640" cy="21924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1100" b="0" u="none" strike="noStrike">
                <a:solidFill>
                  <a:srgbClr val="595959"/>
                </a:solidFill>
                <a:effectLst/>
                <a:uFillTx/>
                <a:latin typeface="Arial"/>
              </a:rPr>
              <a:t>David Pons · CIFP Pau Casesnoves</a:t>
            </a:r>
            <a:endParaRPr lang="ca-ES" sz="1100" b="0" u="none" strike="noStrike">
              <a:solidFill>
                <a:srgbClr val="000000"/>
              </a:solidFill>
              <a:effectLst/>
              <a:uFillTx/>
              <a:latin typeface="Arial"/>
            </a:endParaRPr>
          </a:p>
        </p:txBody>
      </p:sp>
      <p:sp>
        <p:nvSpPr>
          <p:cNvPr id="384" name="TextBox 6"/>
          <p:cNvSpPr/>
          <p:nvPr/>
        </p:nvSpPr>
        <p:spPr>
          <a:xfrm>
            <a:off x="10881360" y="6492240"/>
            <a:ext cx="731160" cy="246600"/>
          </a:xfrm>
          <a:prstGeom prst="rect">
            <a:avLst/>
          </a:prstGeom>
          <a:noFill/>
          <a:ln w="0">
            <a:noFill/>
          </a:ln>
        </p:spPr>
        <p:style>
          <a:lnRef idx="0"/>
          <a:fillRef idx="0"/>
          <a:effectRef idx="0"/>
          <a:fontRef idx="minor"/>
        </p:style>
        <p:txBody>
          <a:bodyPr lIns="9000" tIns="18360" rIns="9000" bIns="18360" anchor="t">
            <a:spAutoFit/>
          </a:bodyPr>
          <a:p>
            <a:pPr algn="r" defTabSz="457200">
              <a:lnSpc>
                <a:spcPct val="100000"/>
              </a:lnSpc>
              <a:spcAft>
                <a:spcPts val="601"/>
              </a:spcAft>
            </a:pPr>
            <a:r>
              <a:rPr lang="en-US" sz="1100" b="0" u="none" strike="noStrike">
                <a:solidFill>
                  <a:srgbClr val="595959"/>
                </a:solidFill>
                <a:effectLst/>
                <a:uFillTx/>
                <a:latin typeface="Arial"/>
              </a:rPr>
              <a:t>18</a:t>
            </a:r>
            <a:endParaRPr lang="ca-ES" sz="1100" b="0" u="none" strike="noStrike">
              <a:solidFill>
                <a:srgbClr val="000000"/>
              </a:solidFill>
              <a:effectLst/>
              <a:uFillTx/>
              <a:latin typeface="Arial"/>
            </a:endParaRPr>
          </a:p>
        </p:txBody>
      </p:sp>
      <p:sp>
        <p:nvSpPr>
          <p:cNvPr id="385" name="TextBox 7"/>
          <p:cNvSpPr/>
          <p:nvPr/>
        </p:nvSpPr>
        <p:spPr>
          <a:xfrm>
            <a:off x="548640" y="1755720"/>
            <a:ext cx="2788560" cy="7768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500" b="1" u="none" strike="noStrike">
                <a:solidFill>
                  <a:srgbClr val="175F16"/>
                </a:solidFill>
                <a:effectLst/>
                <a:uFillTx/>
                <a:latin typeface="Arial"/>
              </a:rPr>
              <a:t>Absències a proves</a:t>
            </a:r>
            <a:endParaRPr lang="ca-ES" sz="2500" b="0" u="none" strike="noStrike">
              <a:solidFill>
                <a:srgbClr val="000000"/>
              </a:solidFill>
              <a:effectLst/>
              <a:uFillTx/>
              <a:latin typeface="Arial"/>
            </a:endParaRPr>
          </a:p>
        </p:txBody>
      </p:sp>
      <p:sp>
        <p:nvSpPr>
          <p:cNvPr id="386" name="TextBox 8"/>
          <p:cNvSpPr/>
          <p:nvPr/>
        </p:nvSpPr>
        <p:spPr>
          <a:xfrm>
            <a:off x="3639240" y="1755720"/>
            <a:ext cx="7954920" cy="1115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0" u="none" strike="noStrike">
                <a:solidFill>
                  <a:srgbClr val="202124"/>
                </a:solidFill>
                <a:effectLst/>
                <a:uFillTx/>
                <a:latin typeface="Arial"/>
              </a:rPr>
              <a:t>Cal justificar-les dins el termini i pels motius admesos pel centre; en cas contrari, la prova es qualifica amb 0.</a:t>
            </a:r>
            <a:endParaRPr lang="ca-ES" sz="2300" b="0" u="none" strike="noStrike">
              <a:solidFill>
                <a:srgbClr val="000000"/>
              </a:solidFill>
              <a:effectLst/>
              <a:uFillTx/>
              <a:latin typeface="Arial"/>
            </a:endParaRPr>
          </a:p>
        </p:txBody>
      </p:sp>
      <p:sp>
        <p:nvSpPr>
          <p:cNvPr id="387" name="TextBox 9"/>
          <p:cNvSpPr/>
          <p:nvPr/>
        </p:nvSpPr>
        <p:spPr>
          <a:xfrm>
            <a:off x="548640" y="3182040"/>
            <a:ext cx="2788560" cy="7768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500" b="1" u="none" strike="noStrike">
                <a:solidFill>
                  <a:srgbClr val="175F16"/>
                </a:solidFill>
                <a:effectLst/>
                <a:uFillTx/>
                <a:latin typeface="Arial"/>
              </a:rPr>
              <a:t>Còpia o plagi</a:t>
            </a:r>
            <a:endParaRPr lang="ca-ES" sz="2500" b="0" u="none" strike="noStrike">
              <a:solidFill>
                <a:srgbClr val="000000"/>
              </a:solidFill>
              <a:effectLst/>
              <a:uFillTx/>
              <a:latin typeface="Arial"/>
            </a:endParaRPr>
          </a:p>
        </p:txBody>
      </p:sp>
      <p:sp>
        <p:nvSpPr>
          <p:cNvPr id="388" name="TextBox 10"/>
          <p:cNvSpPr/>
          <p:nvPr/>
        </p:nvSpPr>
        <p:spPr>
          <a:xfrm>
            <a:off x="3639240" y="3182040"/>
            <a:ext cx="7954920" cy="1115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0" u="none" strike="noStrike">
                <a:solidFill>
                  <a:srgbClr val="202124"/>
                </a:solidFill>
                <a:effectLst/>
                <a:uFillTx/>
                <a:latin typeface="Arial"/>
              </a:rPr>
              <a:t>La qualificació de l’activitat o prova afectada és 0.</a:t>
            </a:r>
            <a:endParaRPr lang="ca-ES" sz="2300" b="0" u="none" strike="noStrike">
              <a:solidFill>
                <a:srgbClr val="000000"/>
              </a:solidFill>
              <a:effectLst/>
              <a:uFillTx/>
              <a:latin typeface="Arial"/>
            </a:endParaRPr>
          </a:p>
        </p:txBody>
      </p:sp>
      <p:sp>
        <p:nvSpPr>
          <p:cNvPr id="389" name="TextBox 11"/>
          <p:cNvSpPr/>
          <p:nvPr/>
        </p:nvSpPr>
        <p:spPr>
          <a:xfrm>
            <a:off x="548640" y="4443840"/>
            <a:ext cx="2788560" cy="7768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500" b="1" u="none" strike="noStrike">
                <a:solidFill>
                  <a:srgbClr val="175F16"/>
                </a:solidFill>
                <a:effectLst/>
                <a:uFillTx/>
                <a:latin typeface="Arial"/>
              </a:rPr>
              <a:t>Ús d’IA generativa</a:t>
            </a:r>
            <a:endParaRPr lang="ca-ES" sz="2500" b="0" u="none" strike="noStrike">
              <a:solidFill>
                <a:srgbClr val="000000"/>
              </a:solidFill>
              <a:effectLst/>
              <a:uFillTx/>
              <a:latin typeface="Arial"/>
            </a:endParaRPr>
          </a:p>
        </p:txBody>
      </p:sp>
      <p:sp>
        <p:nvSpPr>
          <p:cNvPr id="390" name="TextBox 12"/>
          <p:cNvSpPr/>
          <p:nvPr/>
        </p:nvSpPr>
        <p:spPr>
          <a:xfrm>
            <a:off x="3639240" y="4443840"/>
            <a:ext cx="7954920" cy="1115280"/>
          </a:xfrm>
          <a:prstGeom prst="rect">
            <a:avLst/>
          </a:prstGeom>
          <a:noFill/>
          <a:ln w="0">
            <a:noFill/>
          </a:ln>
        </p:spPr>
        <p:style>
          <a:lnRef idx="0"/>
          <a:fillRef idx="0"/>
          <a:effectRef idx="0"/>
          <a:fontRef idx="minor"/>
        </p:style>
        <p:txBody>
          <a:bodyPr lIns="9000" tIns="18360" rIns="9000" bIns="18360" anchor="t">
            <a:spAutoFit/>
          </a:bodyPr>
          <a:p>
            <a:pPr defTabSz="457200">
              <a:lnSpc>
                <a:spcPct val="100000"/>
              </a:lnSpc>
              <a:spcAft>
                <a:spcPts val="601"/>
              </a:spcAft>
            </a:pPr>
            <a:r>
              <a:rPr lang="en-US" sz="2300" b="0" u="none" strike="noStrike">
                <a:solidFill>
                  <a:srgbClr val="202124"/>
                </a:solidFill>
                <a:effectLst/>
                <a:uFillTx/>
                <a:latin typeface="Arial"/>
              </a:rPr>
              <a:t>Només quan el professor l’autoritzi expressament per a una activitat i amb un ús traçable.</a:t>
            </a:r>
            <a:endParaRPr lang="ca-ES"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LibreOffice/26.2.5.2$Linux_X86_64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David Pons</dc:creator>
  <dc:description>generated using python-pptx</dc:description>
  <dc:language>ca-ES</dc:language>
  <cp:lastModifiedBy/>
  <dcterms:modified xsi:type="dcterms:W3CDTF">2026-09-21T17:46:19Z</dcterms:modified>
  <cp:revision>3</cp:revision>
  <dc:subject>DAW · 0613 · Curs 2026–2027</dc:subject>
  <dc:title>Desenvolupament web en entorn servidor — Presentació del mòdul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